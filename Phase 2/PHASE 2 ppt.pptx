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702" r:id="rId2"/>
    <p:sldMasterId id="2147483686" r:id="rId3"/>
  </p:sldMasterIdLst>
  <p:notesMasterIdLst>
    <p:notesMasterId r:id="rId12"/>
  </p:notesMasterIdLst>
  <p:handoutMasterIdLst>
    <p:handoutMasterId r:id="rId13"/>
  </p:handoutMasterIdLst>
  <p:sldIdLst>
    <p:sldId id="277" r:id="rId4"/>
    <p:sldId id="399" r:id="rId5"/>
    <p:sldId id="400" r:id="rId6"/>
    <p:sldId id="401" r:id="rId7"/>
    <p:sldId id="402" r:id="rId8"/>
    <p:sldId id="403" r:id="rId9"/>
    <p:sldId id="404" r:id="rId10"/>
    <p:sldId id="40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6060"/>
    <a:srgbClr val="F64040"/>
    <a:srgbClr val="B92323"/>
    <a:srgbClr val="C1231A"/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74" autoAdjust="0"/>
    <p:restoredTop sz="94660" autoAdjust="0"/>
  </p:normalViewPr>
  <p:slideViewPr>
    <p:cSldViewPr snapToGrid="0">
      <p:cViewPr>
        <p:scale>
          <a:sx n="66" d="100"/>
          <a:sy n="66" d="100"/>
        </p:scale>
        <p:origin x="53" y="389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-3168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hf hdr="0" ftr="0" dt="0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7.jpeg"/><Relationship Id="rId7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6053794"/>
            <a:ext cx="12196420" cy="4391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698031" y="1001586"/>
            <a:ext cx="6829425" cy="319718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</a:rPr>
              <a:t>Submitted in the partial fulfillment for the award of the degree of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000000"/>
                </a:solidFill>
              </a:rPr>
              <a:t>BACHELOR OF ENGINEERING </a:t>
            </a:r>
            <a:endParaRPr lang="en-US" sz="2400" dirty="0">
              <a:solidFill>
                <a:srgbClr val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</a:rPr>
              <a:t> IN</a:t>
            </a:r>
            <a:br>
              <a:rPr lang="en-US" sz="2400" i="1" dirty="0">
                <a:solidFill>
                  <a:srgbClr val="000000"/>
                </a:solidFill>
              </a:rPr>
            </a:br>
            <a:r>
              <a:rPr lang="en-US" sz="2400" b="1" i="1" dirty="0">
                <a:solidFill>
                  <a:srgbClr val="000000"/>
                </a:solidFill>
              </a:rPr>
              <a:t>COMPUTER SCIENCE WITH SPECIALIZATION IN</a:t>
            </a:r>
            <a:br>
              <a:rPr lang="en-US" sz="2400" i="1" dirty="0">
                <a:solidFill>
                  <a:srgbClr val="000000"/>
                </a:solidFill>
              </a:rPr>
            </a:br>
            <a:r>
              <a:rPr lang="en-US" sz="2400" b="1" i="1" dirty="0">
                <a:solidFill>
                  <a:srgbClr val="000000"/>
                </a:solidFill>
              </a:rPr>
              <a:t>BIG DATA ANALYTICS</a:t>
            </a:r>
          </a:p>
        </p:txBody>
      </p:sp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382033" y="6089283"/>
            <a:ext cx="588260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Department of AIT-CSE</a:t>
            </a:r>
            <a:endParaRPr lang="en-US" sz="1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874194" y="355255"/>
            <a:ext cx="847709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3600" b="1" dirty="0">
                <a:latin typeface="Raleway ExtraBold" pitchFamily="34" charset="-52"/>
              </a:rPr>
              <a:t>Online Learning Impact analysis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697678" y="4249678"/>
            <a:ext cx="3604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Submitted by: </a:t>
            </a:r>
          </a:p>
          <a:p>
            <a:r>
              <a:rPr lang="en-US" sz="2000" dirty="0"/>
              <a:t>RAJ SINGH                22BDA70035</a:t>
            </a:r>
            <a:br>
              <a:rPr lang="en-US" sz="2000" dirty="0"/>
            </a:br>
            <a:r>
              <a:rPr lang="en-US" sz="2000" dirty="0"/>
              <a:t>ANMOL RANA          22BDA70032</a:t>
            </a:r>
            <a:br>
              <a:rPr lang="en-US" sz="2000" dirty="0"/>
            </a:br>
            <a:r>
              <a:rPr lang="en-US" sz="2000" dirty="0"/>
              <a:t>GAUTAM SINGLA     22BDA70030</a:t>
            </a:r>
            <a:br>
              <a:rPr lang="en-US" sz="2000" dirty="0"/>
            </a:br>
            <a:r>
              <a:rPr lang="en-US" sz="2000" dirty="0"/>
              <a:t>SIDHARTH PUNDIR  22BDA70006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1250" y="4725655"/>
            <a:ext cx="297132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Under the Supervision of: </a:t>
            </a:r>
            <a:endParaRPr lang="en-US" sz="2000" dirty="0"/>
          </a:p>
          <a:p>
            <a:r>
              <a:rPr lang="en-US" sz="2000" b="1" dirty="0"/>
              <a:t>DR. AMARDEEP SINGH</a:t>
            </a:r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676" y="365126"/>
            <a:ext cx="10515600" cy="976206"/>
          </a:xfrm>
        </p:spPr>
        <p:txBody>
          <a:bodyPr/>
          <a:lstStyle/>
          <a:p>
            <a:r>
              <a:rPr lang="en-IN" b="1" u="sng" dirty="0"/>
              <a:t>Problem Statement &amp; Objectives</a:t>
            </a:r>
            <a:endParaRPr lang="en-US" b="1" u="sng" dirty="0">
              <a:latin typeface="Times New Roman"/>
              <a:cs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26917"/>
            <a:ext cx="12191999" cy="5631084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9FEF3E-A485-A4CC-0F7D-811E3590025D}"/>
              </a:ext>
            </a:extLst>
          </p:cNvPr>
          <p:cNvSpPr/>
          <p:nvPr/>
        </p:nvSpPr>
        <p:spPr>
          <a:xfrm>
            <a:off x="254642" y="1341332"/>
            <a:ext cx="5335929" cy="49534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3C4B70-4237-EC2A-88E5-6EC0C792DD80}"/>
              </a:ext>
            </a:extLst>
          </p:cNvPr>
          <p:cNvSpPr txBox="1"/>
          <p:nvPr/>
        </p:nvSpPr>
        <p:spPr>
          <a:xfrm>
            <a:off x="350134" y="1594643"/>
            <a:ext cx="5240437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Problem Statement</a:t>
            </a:r>
          </a:p>
          <a:p>
            <a:pPr>
              <a:buNone/>
            </a:pPr>
            <a:endParaRPr lang="en-US" sz="1000" b="1" dirty="0"/>
          </a:p>
          <a:p>
            <a:pPr>
              <a:buNone/>
            </a:pPr>
            <a:r>
              <a:rPr lang="en-US" sz="2400" dirty="0"/>
              <a:t>Online learning environments often result in:</a:t>
            </a:r>
          </a:p>
          <a:p>
            <a:pPr marL="531813" indent="-173038">
              <a:buFont typeface="Arial" panose="020B0604020202020204" pitchFamily="34" charset="0"/>
              <a:buChar char="•"/>
            </a:pPr>
            <a:r>
              <a:rPr lang="en-US" sz="2400" dirty="0"/>
              <a:t>Frequent task switching</a:t>
            </a:r>
          </a:p>
          <a:p>
            <a:pPr marL="531813" indent="-173038">
              <a:buFont typeface="Arial" panose="020B0604020202020204" pitchFamily="34" charset="0"/>
              <a:buChar char="•"/>
            </a:pPr>
            <a:r>
              <a:rPr lang="en-US" sz="2400" dirty="0"/>
              <a:t>Short fragmented sessions</a:t>
            </a:r>
          </a:p>
          <a:p>
            <a:pPr marL="531813" indent="-173038">
              <a:buFont typeface="Arial" panose="020B0604020202020204" pitchFamily="34" charset="0"/>
              <a:buChar char="•"/>
            </a:pPr>
            <a:r>
              <a:rPr lang="en-US" sz="2400" dirty="0"/>
              <a:t>Heavy replay dependency</a:t>
            </a:r>
          </a:p>
          <a:p>
            <a:pPr marL="531813" indent="-173038">
              <a:buFont typeface="Arial" panose="020B0604020202020204" pitchFamily="34" charset="0"/>
              <a:buChar char="•"/>
            </a:pPr>
            <a:r>
              <a:rPr lang="en-US" sz="2400" dirty="0"/>
              <a:t>Reduced focus stability</a:t>
            </a:r>
          </a:p>
          <a:p>
            <a:pPr marL="358775"/>
            <a:endParaRPr lang="en-US" sz="2400" dirty="0"/>
          </a:p>
          <a:p>
            <a:pPr>
              <a:buNone/>
            </a:pPr>
            <a:r>
              <a:rPr lang="en-US" sz="2400" dirty="0"/>
              <a:t>There is no standardized behavioral metric to detect at-risk learners early.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B26EA9-886A-1D41-320E-C05A3F59BB1F}"/>
              </a:ext>
            </a:extLst>
          </p:cNvPr>
          <p:cNvSpPr/>
          <p:nvPr/>
        </p:nvSpPr>
        <p:spPr>
          <a:xfrm>
            <a:off x="6460708" y="1321076"/>
            <a:ext cx="5335929" cy="4953441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10DB47-671A-FDBA-F545-14A596658E40}"/>
              </a:ext>
            </a:extLst>
          </p:cNvPr>
          <p:cNvSpPr txBox="1"/>
          <p:nvPr/>
        </p:nvSpPr>
        <p:spPr>
          <a:xfrm>
            <a:off x="6473355" y="1536174"/>
            <a:ext cx="492792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Objectives</a:t>
            </a:r>
          </a:p>
          <a:p>
            <a:pPr marL="531813" indent="-173038">
              <a:buFont typeface="Arial" panose="020B0604020202020204" pitchFamily="34" charset="0"/>
              <a:buChar char="•"/>
            </a:pPr>
            <a:r>
              <a:rPr lang="en-IN" sz="2400" dirty="0"/>
              <a:t>Develop Learning Fragmentation Index (LFI)</a:t>
            </a:r>
          </a:p>
          <a:p>
            <a:pPr marL="531813" indent="-173038">
              <a:buFont typeface="Arial" panose="020B0604020202020204" pitchFamily="34" charset="0"/>
              <a:buChar char="•"/>
            </a:pPr>
            <a:r>
              <a:rPr lang="en-IN" sz="2400" dirty="0"/>
              <a:t>Develop Replay Dependency Phenomenon (RDP)</a:t>
            </a:r>
          </a:p>
          <a:p>
            <a:pPr marL="531813" indent="-173038">
              <a:buFont typeface="Arial" panose="020B0604020202020204" pitchFamily="34" charset="0"/>
              <a:buChar char="•"/>
            </a:pPr>
            <a:r>
              <a:rPr lang="en-IN" sz="2400" dirty="0" err="1"/>
              <a:t>Analyze</a:t>
            </a:r>
            <a:r>
              <a:rPr lang="en-IN" sz="2400" dirty="0"/>
              <a:t> correlation with learning effectiveness</a:t>
            </a:r>
          </a:p>
          <a:p>
            <a:pPr marL="531813" indent="-173038">
              <a:buFont typeface="Arial" panose="020B0604020202020204" pitchFamily="34" charset="0"/>
              <a:buChar char="•"/>
            </a:pPr>
            <a:r>
              <a:rPr lang="en-IN" sz="2400" dirty="0"/>
              <a:t>Implement risk classification model</a:t>
            </a:r>
          </a:p>
          <a:p>
            <a:pPr marL="531813" indent="-173038">
              <a:buFont typeface="Arial" panose="020B0604020202020204" pitchFamily="34" charset="0"/>
              <a:buChar char="•"/>
            </a:pPr>
            <a:r>
              <a:rPr lang="en-IN" sz="2400" dirty="0"/>
              <a:t>Build interactive Power BI dashboard</a:t>
            </a:r>
          </a:p>
        </p:txBody>
      </p:sp>
    </p:spTree>
    <p:extLst>
      <p:ext uri="{BB962C8B-B14F-4D97-AF65-F5344CB8AC3E}">
        <p14:creationId xmlns:p14="http://schemas.microsoft.com/office/powerpoint/2010/main" val="2605982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FBDF0D10-8698-2F63-420E-72EB014B1E2B}"/>
              </a:ext>
            </a:extLst>
          </p:cNvPr>
          <p:cNvSpPr/>
          <p:nvPr/>
        </p:nvSpPr>
        <p:spPr>
          <a:xfrm>
            <a:off x="1541196" y="4641448"/>
            <a:ext cx="2176252" cy="2004705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7340C4-37F8-0F7D-A3D5-45DF4731C1FA}"/>
              </a:ext>
            </a:extLst>
          </p:cNvPr>
          <p:cNvSpPr/>
          <p:nvPr/>
        </p:nvSpPr>
        <p:spPr>
          <a:xfrm>
            <a:off x="37965" y="1548115"/>
            <a:ext cx="2415868" cy="2194460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AD5C744-7813-200A-2B9F-72CAF5F51950}"/>
              </a:ext>
            </a:extLst>
          </p:cNvPr>
          <p:cNvSpPr/>
          <p:nvPr/>
        </p:nvSpPr>
        <p:spPr>
          <a:xfrm>
            <a:off x="3946141" y="1561940"/>
            <a:ext cx="2514032" cy="2180636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D954E9-FC48-7FEF-E038-D17261E83B17}"/>
              </a:ext>
            </a:extLst>
          </p:cNvPr>
          <p:cNvSpPr/>
          <p:nvPr/>
        </p:nvSpPr>
        <p:spPr>
          <a:xfrm>
            <a:off x="8621968" y="1641766"/>
            <a:ext cx="3081509" cy="4311172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21660" y="-262828"/>
            <a:ext cx="5948680" cy="1325563"/>
          </a:xfrm>
        </p:spPr>
        <p:txBody>
          <a:bodyPr/>
          <a:lstStyle/>
          <a:p>
            <a:pPr algn="ctr"/>
            <a:r>
              <a:rPr lang="en-IN" b="1" u="sng" dirty="0"/>
              <a:t>System Architecture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3966"/>
            <a:ext cx="12192000" cy="549218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b="1" dirty="0"/>
              <a:t>Data Collection</a:t>
            </a:r>
            <a:endParaRPr lang="en-US" sz="3200" b="1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026" name="Picture 2" descr="Google Forms Icon SVG Vector &amp; PNG Free Download | UXWing">
            <a:extLst>
              <a:ext uri="{FF2B5EF4-FFF2-40B4-BE49-F238E27FC236}">
                <a16:creationId xmlns:a16="http://schemas.microsoft.com/office/drawing/2014/main" id="{CC99787E-DD99-985E-030B-369336A5F2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170" y="1561939"/>
            <a:ext cx="1805651" cy="1805651"/>
          </a:xfrm>
          <a:prstGeom prst="rect">
            <a:avLst/>
          </a:prstGeom>
          <a:noFill/>
          <a:ln w="2857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oogle Sheets Logo transparent PNG - StickPNG">
            <a:extLst>
              <a:ext uri="{FF2B5EF4-FFF2-40B4-BE49-F238E27FC236}">
                <a16:creationId xmlns:a16="http://schemas.microsoft.com/office/drawing/2014/main" id="{EC4D522F-F376-039B-F364-5A93F85D1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4371" y="1622814"/>
            <a:ext cx="2158175" cy="1774028"/>
          </a:xfrm>
          <a:prstGeom prst="rect">
            <a:avLst/>
          </a:prstGeom>
          <a:noFill/>
          <a:ln w="2857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4A351501-472B-3BD5-A016-BC55DD8A8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8951" y="2057898"/>
            <a:ext cx="1283951" cy="1283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Pandas Icon, Logo and PNG Files for Your Projects">
            <a:extLst>
              <a:ext uri="{FF2B5EF4-FFF2-40B4-BE49-F238E27FC236}">
                <a16:creationId xmlns:a16="http://schemas.microsoft.com/office/drawing/2014/main" id="{9F2BC9BB-3E36-AC31-DA68-E7A84252E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4860" y="4286008"/>
            <a:ext cx="1010587" cy="1010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GitHub - deena-lad/Numpy-Beginner-to-Advanced: This repository is designed  to help you master NumPy, the fundamental package for scientific computing  with Python. Whether you are just getting started or looking to refine your  skills">
            <a:extLst>
              <a:ext uri="{FF2B5EF4-FFF2-40B4-BE49-F238E27FC236}">
                <a16:creationId xmlns:a16="http://schemas.microsoft.com/office/drawing/2014/main" id="{D1192399-8E87-1C40-8957-39FBACFF2F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748" r="57584"/>
          <a:stretch>
            <a:fillRect/>
          </a:stretch>
        </p:blipFill>
        <p:spPr bwMode="auto">
          <a:xfrm>
            <a:off x="10256643" y="3829769"/>
            <a:ext cx="1446834" cy="1780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Power BI Icon SVG Vector &amp; PNG Free Download | UXWing">
            <a:extLst>
              <a:ext uri="{FF2B5EF4-FFF2-40B4-BE49-F238E27FC236}">
                <a16:creationId xmlns:a16="http://schemas.microsoft.com/office/drawing/2014/main" id="{1E69A011-D87F-9C99-3C52-11BA72AF49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9481" y="4710353"/>
            <a:ext cx="1568703" cy="1568703"/>
          </a:xfrm>
          <a:prstGeom prst="rect">
            <a:avLst/>
          </a:prstGeom>
          <a:noFill/>
          <a:ln w="2857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5CACF94-8B57-CB6A-001E-81B887BA3796}"/>
              </a:ext>
            </a:extLst>
          </p:cNvPr>
          <p:cNvSpPr txBox="1"/>
          <p:nvPr/>
        </p:nvSpPr>
        <p:spPr>
          <a:xfrm>
            <a:off x="511738" y="3276415"/>
            <a:ext cx="1705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IN" sz="1800" b="1" dirty="0"/>
              <a:t>Google Forms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C28DA5-0903-7B63-80A5-E7AFAAD3ED39}"/>
              </a:ext>
            </a:extLst>
          </p:cNvPr>
          <p:cNvSpPr txBox="1"/>
          <p:nvPr/>
        </p:nvSpPr>
        <p:spPr>
          <a:xfrm>
            <a:off x="4145666" y="1135014"/>
            <a:ext cx="19503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Data Storage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18C0FA-075F-D8AC-F747-6CA7098C5B62}"/>
              </a:ext>
            </a:extLst>
          </p:cNvPr>
          <p:cNvSpPr txBox="1"/>
          <p:nvPr/>
        </p:nvSpPr>
        <p:spPr>
          <a:xfrm>
            <a:off x="4426678" y="3228216"/>
            <a:ext cx="18454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Google Sheets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5F2128-D1A3-EE21-7580-E0F7A93FEA2A}"/>
              </a:ext>
            </a:extLst>
          </p:cNvPr>
          <p:cNvSpPr txBox="1"/>
          <p:nvPr/>
        </p:nvSpPr>
        <p:spPr>
          <a:xfrm>
            <a:off x="7313121" y="1161149"/>
            <a:ext cx="48788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Data Processing &amp; Risk Classification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141ECD-54B6-85C8-794B-B5DFF9996A3C}"/>
              </a:ext>
            </a:extLst>
          </p:cNvPr>
          <p:cNvSpPr txBox="1"/>
          <p:nvPr/>
        </p:nvSpPr>
        <p:spPr>
          <a:xfrm>
            <a:off x="9669228" y="3412882"/>
            <a:ext cx="11748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Python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2734D5-9D9F-46AC-7D45-58E6B6E05460}"/>
              </a:ext>
            </a:extLst>
          </p:cNvPr>
          <p:cNvSpPr txBox="1"/>
          <p:nvPr/>
        </p:nvSpPr>
        <p:spPr>
          <a:xfrm>
            <a:off x="8794860" y="5368664"/>
            <a:ext cx="11748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Pandas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9CAA20-5010-EA64-EECE-C1FC17488AA5}"/>
              </a:ext>
            </a:extLst>
          </p:cNvPr>
          <p:cNvSpPr txBox="1"/>
          <p:nvPr/>
        </p:nvSpPr>
        <p:spPr>
          <a:xfrm>
            <a:off x="10528647" y="5425714"/>
            <a:ext cx="11748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NumPy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25D683-9FE7-1BF9-D040-56566EEDFE3A}"/>
              </a:ext>
            </a:extLst>
          </p:cNvPr>
          <p:cNvSpPr txBox="1"/>
          <p:nvPr/>
        </p:nvSpPr>
        <p:spPr>
          <a:xfrm>
            <a:off x="1669481" y="4134167"/>
            <a:ext cx="19503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Visualization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5164732-7CEA-0B21-189A-889997BDD9B4}"/>
              </a:ext>
            </a:extLst>
          </p:cNvPr>
          <p:cNvSpPr txBox="1"/>
          <p:nvPr/>
        </p:nvSpPr>
        <p:spPr>
          <a:xfrm>
            <a:off x="2000286" y="6246557"/>
            <a:ext cx="18454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Power BI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D09D9F27-227F-B8DC-5FDE-E03C8C880CAD}"/>
              </a:ext>
            </a:extLst>
          </p:cNvPr>
          <p:cNvSpPr/>
          <p:nvPr/>
        </p:nvSpPr>
        <p:spPr>
          <a:xfrm>
            <a:off x="2812648" y="2349661"/>
            <a:ext cx="807167" cy="31818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9AF981EF-0FAD-A9D8-3662-64DEF19A9B16}"/>
              </a:ext>
            </a:extLst>
          </p:cNvPr>
          <p:cNvSpPr/>
          <p:nvPr/>
        </p:nvSpPr>
        <p:spPr>
          <a:xfrm>
            <a:off x="7022371" y="2349661"/>
            <a:ext cx="807167" cy="31818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CCDFC738-B9E6-C15E-CE90-127685BD78D6}"/>
              </a:ext>
            </a:extLst>
          </p:cNvPr>
          <p:cNvSpPr/>
          <p:nvPr/>
        </p:nvSpPr>
        <p:spPr>
          <a:xfrm rot="10800000">
            <a:off x="5399979" y="5107531"/>
            <a:ext cx="807167" cy="31818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012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2131"/>
            <a:ext cx="10515600" cy="1325563"/>
          </a:xfrm>
        </p:spPr>
        <p:txBody>
          <a:bodyPr/>
          <a:lstStyle/>
          <a:p>
            <a:pPr algn="ctr"/>
            <a:r>
              <a:rPr lang="en-IN" b="1" u="sng" dirty="0"/>
              <a:t>Methodology</a:t>
            </a:r>
            <a:endParaRPr lang="en-US" b="1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EAE3A8-D89D-3A0D-B861-C04D591809E6}"/>
              </a:ext>
            </a:extLst>
          </p:cNvPr>
          <p:cNvSpPr/>
          <p:nvPr/>
        </p:nvSpPr>
        <p:spPr>
          <a:xfrm>
            <a:off x="838197" y="1661262"/>
            <a:ext cx="3259241" cy="167224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</a:rPr>
              <a:t>Data Collection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80 students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Behavioral + Outcome + Demographic data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EA3157-9655-E047-7819-A9DCAB86829B}"/>
              </a:ext>
            </a:extLst>
          </p:cNvPr>
          <p:cNvSpPr/>
          <p:nvPr/>
        </p:nvSpPr>
        <p:spPr>
          <a:xfrm>
            <a:off x="838197" y="3692408"/>
            <a:ext cx="4105222" cy="14105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</a:rPr>
              <a:t>Index Computation</a:t>
            </a:r>
          </a:p>
          <a:p>
            <a:r>
              <a:rPr lang="en-US" sz="2000" dirty="0">
                <a:solidFill>
                  <a:schemeClr val="tx1"/>
                </a:solidFill>
              </a:rPr>
              <a:t>LFI = Average of 6 fragmentation variables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RDP = Average of 5 replay variables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2858FBB-D8A0-4CAE-1767-A4A4627261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711656"/>
              </p:ext>
            </p:extLst>
          </p:nvPr>
        </p:nvGraphicFramePr>
        <p:xfrm>
          <a:off x="6204029" y="2103300"/>
          <a:ext cx="5374034" cy="357611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687017">
                  <a:extLst>
                    <a:ext uri="{9D8B030D-6E8A-4147-A177-3AD203B41FA5}">
                      <a16:colId xmlns:a16="http://schemas.microsoft.com/office/drawing/2014/main" val="563322010"/>
                    </a:ext>
                  </a:extLst>
                </a:gridCol>
                <a:gridCol w="2687017">
                  <a:extLst>
                    <a:ext uri="{9D8B030D-6E8A-4147-A177-3AD203B41FA5}">
                      <a16:colId xmlns:a16="http://schemas.microsoft.com/office/drawing/2014/main" val="477820674"/>
                    </a:ext>
                  </a:extLst>
                </a:gridCol>
              </a:tblGrid>
              <a:tr h="8940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Condition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Risk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9886768"/>
                  </a:ext>
                </a:extLst>
              </a:tr>
              <a:tr h="8940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LFI &lt; 0.65 &amp; RDP &lt; 0.60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</a:rPr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036930"/>
                  </a:ext>
                </a:extLst>
              </a:tr>
              <a:tr h="8940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One above threshold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Moderate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7789656"/>
                  </a:ext>
                </a:extLst>
              </a:tr>
              <a:tr h="8940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Both above threshold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FF0000"/>
                          </a:solidFill>
                        </a:rPr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262965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FBB8924-E678-B071-B710-8351643A8B48}"/>
              </a:ext>
            </a:extLst>
          </p:cNvPr>
          <p:cNvSpPr txBox="1"/>
          <p:nvPr/>
        </p:nvSpPr>
        <p:spPr>
          <a:xfrm>
            <a:off x="6169305" y="1562755"/>
            <a:ext cx="6094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Risk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4093034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IN" b="1" u="sng" dirty="0"/>
              <a:t>Overview Dashboard Results</a:t>
            </a:r>
            <a:endParaRPr lang="en-US" b="1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u="sng" smtClean="0"/>
              <a:pPr/>
              <a:t>5</a:t>
            </a:fld>
            <a:endParaRPr lang="en-US" u="sng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79F4E2F-DC12-DB50-D7FE-5CC490E7B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92" y="1325563"/>
            <a:ext cx="7986957" cy="5167834"/>
          </a:xfrm>
          <a:prstGeom prst="rect">
            <a:avLst/>
          </a:prstGeom>
          <a:ln w="28575">
            <a:solidFill>
              <a:srgbClr val="0070C0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F82297B-4D41-6C38-3E23-43FB3E3C8377}"/>
              </a:ext>
            </a:extLst>
          </p:cNvPr>
          <p:cNvSpPr txBox="1"/>
          <p:nvPr/>
        </p:nvSpPr>
        <p:spPr>
          <a:xfrm>
            <a:off x="8400327" y="1325563"/>
            <a:ext cx="3513881" cy="230832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Key Metrics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Average LFI = 0.51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Average RDP = 0.47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Average Learning Effectiveness = 6.29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High Risk Students = 5%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B006C2-D881-5435-48E9-564D4AD4E9AB}"/>
              </a:ext>
            </a:extLst>
          </p:cNvPr>
          <p:cNvSpPr txBox="1"/>
          <p:nvPr/>
        </p:nvSpPr>
        <p:spPr>
          <a:xfrm>
            <a:off x="8429745" y="3794789"/>
            <a:ext cx="3513881" cy="15696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Risk Distribution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65% Low Risk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30% Moderate Risk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5% High Risk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0B4242-648A-DA8B-D08E-BDA76DDEBCA3}"/>
              </a:ext>
            </a:extLst>
          </p:cNvPr>
          <p:cNvSpPr txBox="1"/>
          <p:nvPr/>
        </p:nvSpPr>
        <p:spPr>
          <a:xfrm>
            <a:off x="8264749" y="5459171"/>
            <a:ext cx="351388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Interpretation: Majority stable, but measurable vulnerable group exists.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74965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8087" y="-234628"/>
            <a:ext cx="10515600" cy="1325563"/>
          </a:xfrm>
        </p:spPr>
        <p:txBody>
          <a:bodyPr/>
          <a:lstStyle/>
          <a:p>
            <a:pPr algn="ctr"/>
            <a:r>
              <a:rPr lang="en-IN" b="1" u="sng" dirty="0"/>
              <a:t>Correlation Analysis</a:t>
            </a:r>
            <a:endParaRPr lang="en-US" b="1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211470-9A32-421A-9C06-F24BA1E62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44" y="1252233"/>
            <a:ext cx="7758741" cy="510411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123CEE6-8C7F-E9DF-C355-E29ECF5A5725}"/>
              </a:ext>
            </a:extLst>
          </p:cNvPr>
          <p:cNvSpPr txBox="1"/>
          <p:nvPr/>
        </p:nvSpPr>
        <p:spPr>
          <a:xfrm>
            <a:off x="8073824" y="1252233"/>
            <a:ext cx="4006132" cy="292387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Findings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LFI vs Learning Effectiveness</a:t>
            </a:r>
            <a:br>
              <a:rPr lang="en-IN" sz="2000" dirty="0"/>
            </a:br>
            <a:r>
              <a:rPr lang="en-IN" sz="2000" dirty="0"/>
              <a:t>       Slight Negative Correlation</a:t>
            </a:r>
          </a:p>
          <a:p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RDP vs Learning Effectiveness</a:t>
            </a:r>
            <a:br>
              <a:rPr lang="en-IN" sz="2000" dirty="0"/>
            </a:br>
            <a:r>
              <a:rPr lang="en-IN" sz="2000" dirty="0"/>
              <a:t>        Moderate Negative Pattern</a:t>
            </a:r>
          </a:p>
          <a:p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LFI vs RDP</a:t>
            </a:r>
            <a:br>
              <a:rPr lang="en-IN" sz="2000" dirty="0"/>
            </a:br>
            <a:r>
              <a:rPr lang="en-IN" sz="2000" dirty="0"/>
              <a:t>        Moderate Positive Relationship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C8D500-2058-F085-F2E6-8669601A976E}"/>
              </a:ext>
            </a:extLst>
          </p:cNvPr>
          <p:cNvSpPr txBox="1"/>
          <p:nvPr/>
        </p:nvSpPr>
        <p:spPr>
          <a:xfrm>
            <a:off x="7971744" y="5000938"/>
            <a:ext cx="421029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Conclusion: Higher fragmentation and replay dependency reduce effectiveness.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285240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571" y="-231357"/>
            <a:ext cx="9137184" cy="1325563"/>
          </a:xfrm>
        </p:spPr>
        <p:txBody>
          <a:bodyPr/>
          <a:lstStyle/>
          <a:p>
            <a:pPr algn="ctr"/>
            <a:r>
              <a:rPr lang="en-IN" b="1" u="sng" dirty="0"/>
              <a:t>Risk Detection Model &amp; Demographics</a:t>
            </a:r>
            <a:endParaRPr lang="en-US" b="1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034C3A-772C-40E5-24A4-56095F12C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9" y="1266523"/>
            <a:ext cx="6963747" cy="545495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DE81CA1-6561-26DF-147E-EAFC58328F1D}"/>
              </a:ext>
            </a:extLst>
          </p:cNvPr>
          <p:cNvSpPr txBox="1"/>
          <p:nvPr/>
        </p:nvSpPr>
        <p:spPr>
          <a:xfrm>
            <a:off x="7228391" y="1654673"/>
            <a:ext cx="3893915" cy="298543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Quadrant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Top Right → High Risk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Bottom Left → Low Risk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Mixed → Moderate Risk</a:t>
            </a:r>
          </a:p>
          <a:p>
            <a:endParaRPr lang="en-IN" sz="2000" dirty="0"/>
          </a:p>
          <a:p>
            <a:pPr>
              <a:buNone/>
            </a:pPr>
            <a:r>
              <a:rPr lang="en-IN" sz="2400" b="1" dirty="0"/>
              <a:t>Demographic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Variation across Academic Years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Gender-based LFI differences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 err="1"/>
              <a:t>Behavioral</a:t>
            </a:r>
            <a:r>
              <a:rPr lang="en-IN" sz="2000" dirty="0"/>
              <a:t> progression patterns</a:t>
            </a:r>
          </a:p>
        </p:txBody>
      </p:sp>
    </p:spTree>
    <p:extLst>
      <p:ext uri="{BB962C8B-B14F-4D97-AF65-F5344CB8AC3E}">
        <p14:creationId xmlns:p14="http://schemas.microsoft.com/office/powerpoint/2010/main" val="4003662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A5ED1-B2D9-6B9C-2EBB-0B3AD21AE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820" y="-252413"/>
            <a:ext cx="10515600" cy="1325563"/>
          </a:xfrm>
        </p:spPr>
        <p:txBody>
          <a:bodyPr/>
          <a:lstStyle/>
          <a:p>
            <a:pPr algn="ctr"/>
            <a:r>
              <a:rPr lang="en-IN" b="1" u="sng" dirty="0"/>
              <a:t>Results &amp; 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6E252-6E8B-6435-DB2F-8CF2928F2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6956EC-E934-6AC6-B2BB-8152CE94A531}"/>
              </a:ext>
            </a:extLst>
          </p:cNvPr>
          <p:cNvSpPr txBox="1"/>
          <p:nvPr/>
        </p:nvSpPr>
        <p:spPr>
          <a:xfrm>
            <a:off x="456235" y="1346172"/>
            <a:ext cx="5412130" cy="397031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Results Achieved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Developed measurable behavioral indices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Implemented dual-threshold classification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Validated correlation with effectiveness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Created fully functional interactive dashboard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AFB581-364E-B31A-3C19-32D986C9EF20}"/>
              </a:ext>
            </a:extLst>
          </p:cNvPr>
          <p:cNvSpPr txBox="1"/>
          <p:nvPr/>
        </p:nvSpPr>
        <p:spPr>
          <a:xfrm>
            <a:off x="6546447" y="1346172"/>
            <a:ext cx="5412130" cy="397031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b="1" dirty="0"/>
              <a:t>Conclusion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Fragmentation negatively impacts learning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Replay dependency reflects cognitive difficulty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Dual-index model improves risk detection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System can serve as institutional early-warning framework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FD7A7E-2B36-6707-9D9C-3B91AA2B8EA6}"/>
              </a:ext>
            </a:extLst>
          </p:cNvPr>
          <p:cNvSpPr txBox="1"/>
          <p:nvPr/>
        </p:nvSpPr>
        <p:spPr>
          <a:xfrm>
            <a:off x="5165204" y="5771575"/>
            <a:ext cx="6094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2065691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6315</TotalTime>
  <Words>375</Words>
  <Application>Microsoft Office PowerPoint</Application>
  <PresentationFormat>Widescreen</PresentationFormat>
  <Paragraphs>101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Calibri</vt:lpstr>
      <vt:lpstr>Calibri Light</vt:lpstr>
      <vt:lpstr>Casper</vt:lpstr>
      <vt:lpstr>Raleway ExtraBold</vt:lpstr>
      <vt:lpstr>Times New Roman</vt:lpstr>
      <vt:lpstr>1_Office Theme</vt:lpstr>
      <vt:lpstr>2_Office Theme</vt:lpstr>
      <vt:lpstr>Contents Slide Master</vt:lpstr>
      <vt:lpstr>PowerPoint Presentation</vt:lpstr>
      <vt:lpstr>Problem Statement &amp; Objectives</vt:lpstr>
      <vt:lpstr>System Architecture</vt:lpstr>
      <vt:lpstr>Methodology</vt:lpstr>
      <vt:lpstr>Overview Dashboard Results</vt:lpstr>
      <vt:lpstr>Correlation Analysis</vt:lpstr>
      <vt:lpstr>Risk Detection Model &amp; Demographics</vt:lpstr>
      <vt:lpstr>Results &amp;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RAJ SINGH</cp:lastModifiedBy>
  <cp:revision>499</cp:revision>
  <dcterms:created xsi:type="dcterms:W3CDTF">2019-01-09T10:33:58Z</dcterms:created>
  <dcterms:modified xsi:type="dcterms:W3CDTF">2026-03-01T07:11:48Z</dcterms:modified>
</cp:coreProperties>
</file>