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80" r:id="rId2"/>
    <p:sldId id="269" r:id="rId3"/>
    <p:sldId id="270" r:id="rId4"/>
    <p:sldId id="271" r:id="rId5"/>
    <p:sldId id="272" r:id="rId6"/>
    <p:sldId id="273" r:id="rId7"/>
    <p:sldId id="274" r:id="rId8"/>
    <p:sldId id="279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001586"/>
            <a:ext cx="6829425" cy="319718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COMPUTER SCIENCE WITH SPECIALIZATION IN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b="1" i="1" dirty="0">
                <a:solidFill>
                  <a:srgbClr val="000000"/>
                </a:solidFill>
              </a:rPr>
              <a:t>BIG DATA ANALYTICS</a:t>
            </a: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43426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82033" y="6089283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74194" y="355255"/>
            <a:ext cx="84770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Raleway ExtraBold" pitchFamily="34" charset="-52"/>
              </a:rPr>
              <a:t>Online Learning Impact analysis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7678" y="4249678"/>
            <a:ext cx="3604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RAJ SINGH                22BDA70035</a:t>
            </a:r>
            <a:br>
              <a:rPr lang="en-US" sz="2000" dirty="0"/>
            </a:br>
            <a:r>
              <a:rPr lang="en-US" sz="2000" dirty="0"/>
              <a:t>ANMOL RANA          22BDA70032</a:t>
            </a:r>
            <a:br>
              <a:rPr lang="en-US" sz="2000" dirty="0"/>
            </a:br>
            <a:r>
              <a:rPr lang="en-US" sz="2000" dirty="0"/>
              <a:t>GAUTAM SINGLA     22BDA70030</a:t>
            </a:r>
            <a:br>
              <a:rPr lang="en-US" sz="2000" dirty="0"/>
            </a:br>
            <a:r>
              <a:rPr lang="en-US" sz="2000" dirty="0"/>
              <a:t>SIDHARTH PUNDIR  22BDA70006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b="1" dirty="0"/>
              <a:t>DR. AMARDEEP SINGH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1DE3F-8820-1191-CADC-327BA239D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2ACE-F540-91AD-BCF0-21A3CC11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AC700E-C553-B013-542B-C4AA6C05E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844" y="1580859"/>
            <a:ext cx="10916816" cy="4562668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Literature Review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Research Gaps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Metrics (LFI &amp; RDP)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Results &amp; Discussion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Comparative Analysis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 &amp; Future Work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558C930B-3AB2-3239-6F40-CC0BAA0187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9F636-3E0D-645B-5989-801806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0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2532-18F1-3460-F32C-6896D465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B3FA87-C261-1240-9D58-C6C906C41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4562668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04098158-5145-1400-D372-CDB6D98B1D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2AE6E0-0CC4-B08A-ADA3-2E26D8F34FB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9304" y="1890223"/>
            <a:ext cx="102587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analytics lack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depth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focusing mainly on completion rates and viewing time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introduces two novel metrics: </a:t>
            </a:r>
          </a:p>
          <a:p>
            <a:pPr marL="717550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Fragmentation Index (LFI)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17550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Replay Dependency Phenomenon (RDP)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3912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Empirical study conducted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 university students (2025–2026)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structured survey data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6C2A3D1-6B18-4933-84C1-5F37FB2CACE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4482" y="4275280"/>
            <a:ext cx="6248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Finding:</a:t>
            </a:r>
          </a:p>
          <a:p>
            <a:pPr marL="627063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28.3% learners exhibit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fragmentation (LFI ≥ 0.65)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27063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31.7% show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replay dependency (RDP ≥ 0.60)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27063" marR="0" lvl="0" indent="-1793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metrics show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negative correlation with learning effectiveness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DC9BD-30BB-7B57-2F3C-A6E08D3C2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D4D8-D370-FBB8-47B6-057A74DB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B39155-1B2A-653E-9D55-3D5FA5F3A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456266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has expanded rapidly, with millions of students using video-based MOOCs and LMS platforms. While flexibility is gained, challenges in engagement, attention, and learning quality remain significant.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Metrics:</a:t>
            </a:r>
          </a:p>
          <a:p>
            <a:pPr marL="717550" indent="-179388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 ≠ actual learning </a:t>
            </a:r>
          </a:p>
          <a:p>
            <a:pPr marL="717550" indent="-179388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time ≠ attention or understanding </a:t>
            </a:r>
          </a:p>
          <a:p>
            <a:pPr marL="717550" indent="-179388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insight into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patterns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Two under-studied phenomena affect learning quality:</a:t>
            </a:r>
          </a:p>
          <a:p>
            <a:pPr marL="717550" indent="-179388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Fragmentation - interrupted, discontinuous sessions impair deep processing and knowledge integration</a:t>
            </a:r>
          </a:p>
          <a:p>
            <a:pPr marL="717550" indent="-179388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Dependency - over-reliance on pause/replay may indicate cognitive overload or passive learning</a:t>
            </a:r>
          </a:p>
          <a:p>
            <a:pPr marL="538162"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Define, compute, and validate LFI and RDP; identify at-risk learners; provide actionable thresholds for educators and platform developers.</a:t>
            </a: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76EF1EBF-004F-C34E-B1E2-F4DE4E5CBE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74EA3-68F4-473D-E5C1-ACA1A0BF9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4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54A6-A960-8B71-5E0B-885152A4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32569E-236D-F1E2-02EC-09E12F8F0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456266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AFE37C38-6828-1C7A-6469-4DCC49BC4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64A60-2A3B-6AC8-F9D9-02ECD1160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861464"/>
              </p:ext>
            </p:extLst>
          </p:nvPr>
        </p:nvGraphicFramePr>
        <p:xfrm>
          <a:off x="835090" y="2123952"/>
          <a:ext cx="10515600" cy="29148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15800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57359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8954534"/>
                    </a:ext>
                  </a:extLst>
                </a:gridCol>
              </a:tblGrid>
              <a:tr h="58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649636"/>
                  </a:ext>
                </a:extLst>
              </a:tr>
              <a:tr h="58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improve engagement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919857"/>
                  </a:ext>
                </a:extLst>
              </a:tr>
              <a:tr h="58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(EEG)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low attention states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242522"/>
                  </a:ext>
                </a:extLst>
              </a:tr>
              <a:tr h="58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Replay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Excess replay → poor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113923"/>
                  </a:ext>
                </a:extLst>
              </a:tr>
              <a:tr h="582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Bühler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 linked to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6815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8A4E2AE-9873-1EF7-D512-1C0CD91DCB65}"/>
              </a:ext>
            </a:extLst>
          </p:cNvPr>
          <p:cNvSpPr txBox="1"/>
          <p:nvPr/>
        </p:nvSpPr>
        <p:spPr>
          <a:xfrm>
            <a:off x="835090" y="5337109"/>
            <a:ext cx="60932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Existing metrics lack </a:t>
            </a:r>
            <a:r>
              <a:rPr lang="en-US" sz="1500" b="1" dirty="0"/>
              <a:t>behavioral depth</a:t>
            </a:r>
            <a:r>
              <a:rPr lang="en-US" sz="15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behavioral metric combining fragmentation + replay exists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A8BAA-55A3-24B2-9E4A-ED7B9DAE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3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B841C-7EE2-EA30-5427-F2869040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66FE9F-9FEB-F887-1F9C-07EB458C3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254908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systematic measure exists for learning fragmentation - session interruptions and discontinuity remain unquantified in online learning research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behavior studied qualitatively, but no composite metric captures dependency vs. strategic use of replay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analytics rely on system logs, limiting applicability to platforms without full logging infrastructure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variables (gender, year of study) affecting fragmentation and replay patterns are under-explored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threshold-based classification framework exists for identifying at-risk online learners using behavioral metrics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B9DD5981-D834-AE56-988E-3ADCBBED8C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FD045-79D8-AF65-D360-1D041B24B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1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E6CB-3F8A-0159-257E-DF6594B3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BCE42-F3A2-5C64-A8BD-D43A4A6C6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07" y="1921183"/>
            <a:ext cx="4849358" cy="4698836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Design: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students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sections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questions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Likert scale + numerical responses</a:t>
            </a: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Computation: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LFI from 6 survey items (interruptions, session variability, focus difficulty)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 from 5 items (pause/replay frequency, content replayed %)</a:t>
            </a: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stats 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</a:t>
            </a:r>
          </a:p>
          <a:p>
            <a:pPr marL="896938" indent="-179388" algn="l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75th percentile threshold for high-risk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FD7EE-ED8F-1256-B5D0-453271ECC3BF}"/>
              </a:ext>
            </a:extLst>
          </p:cNvPr>
          <p:cNvSpPr txBox="1"/>
          <p:nvPr/>
        </p:nvSpPr>
        <p:spPr>
          <a:xfrm>
            <a:off x="152400" y="14309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5EB68B-687C-5685-4570-A9361EAAA01B}"/>
              </a:ext>
            </a:extLst>
          </p:cNvPr>
          <p:cNvCxnSpPr>
            <a:cxnSpLocks/>
          </p:cNvCxnSpPr>
          <p:nvPr/>
        </p:nvCxnSpPr>
        <p:spPr>
          <a:xfrm>
            <a:off x="5145742" y="1892581"/>
            <a:ext cx="0" cy="4577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>
            <a:extLst>
              <a:ext uri="{FF2B5EF4-FFF2-40B4-BE49-F238E27FC236}">
                <a16:creationId xmlns:a16="http://schemas.microsoft.com/office/drawing/2014/main" id="{883B691A-06A9-C65C-C4C4-CBE475B95B0B}"/>
              </a:ext>
            </a:extLst>
          </p:cNvPr>
          <p:cNvSpPr txBox="1">
            <a:spLocks/>
          </p:cNvSpPr>
          <p:nvPr/>
        </p:nvSpPr>
        <p:spPr>
          <a:xfrm>
            <a:off x="4658723" y="1832050"/>
            <a:ext cx="3316942" cy="469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1846B8-5649-873E-D471-99F9A8CCF600}"/>
              </a:ext>
            </a:extLst>
          </p:cNvPr>
          <p:cNvSpPr txBox="1"/>
          <p:nvPr/>
        </p:nvSpPr>
        <p:spPr>
          <a:xfrm>
            <a:off x="5304358" y="5385661"/>
            <a:ext cx="18880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</a:p>
          <a:p>
            <a:pPr marL="447675" indent="-179388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LFI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= 0.82 </a:t>
            </a:r>
          </a:p>
          <a:p>
            <a:pPr marL="447675" indent="-179388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RDP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= 0.79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7DAD4-36FA-31E2-1066-E496D0EA5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0" t="20577" r="5994" b="13856"/>
          <a:stretch>
            <a:fillRect/>
          </a:stretch>
        </p:blipFill>
        <p:spPr>
          <a:xfrm>
            <a:off x="5253320" y="2077787"/>
            <a:ext cx="6714112" cy="330196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C339EE-9092-119D-9122-2563F5F4A271}"/>
              </a:ext>
            </a:extLst>
          </p:cNvPr>
          <p:cNvSpPr txBox="1"/>
          <p:nvPr/>
        </p:nvSpPr>
        <p:spPr>
          <a:xfrm>
            <a:off x="5304358" y="14250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Workflow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C9A553-7AA1-629A-48D1-95AA5C02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8473E17-4836-B3A7-CF75-DEFC514343A4}"/>
              </a:ext>
            </a:extLst>
          </p:cNvPr>
          <p:cNvSpPr txBox="1"/>
          <p:nvPr/>
        </p:nvSpPr>
        <p:spPr>
          <a:xfrm>
            <a:off x="2047187" y="9087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METRICS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B57EC90F-4A46-7D9A-4185-E7480E6CB6AE}"/>
              </a:ext>
            </a:extLst>
          </p:cNvPr>
          <p:cNvSpPr txBox="1">
            <a:spLocks/>
          </p:cNvSpPr>
          <p:nvPr/>
        </p:nvSpPr>
        <p:spPr>
          <a:xfrm>
            <a:off x="4658723" y="1832050"/>
            <a:ext cx="3316942" cy="4698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B8C690-9100-8811-6F29-49575E62065D}"/>
              </a:ext>
            </a:extLst>
          </p:cNvPr>
          <p:cNvSpPr txBox="1"/>
          <p:nvPr/>
        </p:nvSpPr>
        <p:spPr>
          <a:xfrm>
            <a:off x="475129" y="2293715"/>
            <a:ext cx="479611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Fragmentation Index (LFI):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interruptions and discontinuity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breaks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switching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difficulty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DFB19-BEED-7ED2-B7AC-E9DB3B93A836}"/>
              </a:ext>
            </a:extLst>
          </p:cNvPr>
          <p:cNvSpPr txBox="1"/>
          <p:nvPr/>
        </p:nvSpPr>
        <p:spPr>
          <a:xfrm>
            <a:off x="6096000" y="2261913"/>
            <a:ext cx="454510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Dependency (RDP):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overuse of pause/replay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overload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learning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11570F-1990-434E-2B93-AEDC3581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2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EBB0-9143-43E8-4F17-219B6DE9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72A9FA-C771-42F2-BD48-BFF172CAD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4" y="1514258"/>
            <a:ext cx="4134742" cy="4562668"/>
          </a:xfrm>
        </p:spPr>
        <p:txBody>
          <a:bodyPr>
            <a:normAutofit/>
          </a:bodyPr>
          <a:lstStyle/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(N=80)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4968012A-05D7-E964-4C48-F89F579747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9B533D-6BE1-0681-5E5D-9B780B5B2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08146"/>
              </p:ext>
            </p:extLst>
          </p:nvPr>
        </p:nvGraphicFramePr>
        <p:xfrm>
          <a:off x="188809" y="2340465"/>
          <a:ext cx="3088340" cy="11887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2085">
                  <a:extLst>
                    <a:ext uri="{9D8B030D-6E8A-4147-A177-3AD203B41FA5}">
                      <a16:colId xmlns:a16="http://schemas.microsoft.com/office/drawing/2014/main" val="3137735812"/>
                    </a:ext>
                  </a:extLst>
                </a:gridCol>
                <a:gridCol w="772085">
                  <a:extLst>
                    <a:ext uri="{9D8B030D-6E8A-4147-A177-3AD203B41FA5}">
                      <a16:colId xmlns:a16="http://schemas.microsoft.com/office/drawing/2014/main" val="3188260611"/>
                    </a:ext>
                  </a:extLst>
                </a:gridCol>
                <a:gridCol w="772085">
                  <a:extLst>
                    <a:ext uri="{9D8B030D-6E8A-4147-A177-3AD203B41FA5}">
                      <a16:colId xmlns:a16="http://schemas.microsoft.com/office/drawing/2014/main" val="649744841"/>
                    </a:ext>
                  </a:extLst>
                </a:gridCol>
                <a:gridCol w="772085">
                  <a:extLst>
                    <a:ext uri="{9D8B030D-6E8A-4147-A177-3AD203B41FA5}">
                      <a16:colId xmlns:a16="http://schemas.microsoft.com/office/drawing/2014/main" val="4165019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415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185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1310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DDF2AF-9E69-E45E-3F33-B71E4C2B5CF1}"/>
              </a:ext>
            </a:extLst>
          </p:cNvPr>
          <p:cNvSpPr txBox="1"/>
          <p:nvPr/>
        </p:nvSpPr>
        <p:spPr>
          <a:xfrm>
            <a:off x="35019" y="3945660"/>
            <a:ext cx="32317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LFI = 0.59 (SD = 0.19) - moderate fragmentation; 28.3% high-risk (LFI ≥ 0.65)</a:t>
            </a:r>
          </a:p>
          <a:p>
            <a:pPr marL="285750" indent="-285750" defTabSz="67310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RDP = 0.48 (SD = 0.21) - moderate dependency; 31.7% high-risk (RDP ≥ 0.60)</a:t>
            </a:r>
          </a:p>
          <a:p>
            <a:pPr marL="285750" indent="-285750" defTabSz="673100">
              <a:buFont typeface="Arial" panose="020B0604020202020204" pitchFamily="34" charset="0"/>
              <a:buChar char="•"/>
            </a:pPr>
            <a:r>
              <a:rPr lang="en-US" sz="1500" dirty="0"/>
              <a:t>Both show </a:t>
            </a:r>
            <a:r>
              <a:rPr lang="en-US" sz="1500" b="1" dirty="0"/>
              <a:t>moderate but significant variability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1863BC-42E3-304E-A821-B74E63A67EC6}"/>
              </a:ext>
            </a:extLst>
          </p:cNvPr>
          <p:cNvSpPr txBox="1">
            <a:spLocks/>
          </p:cNvSpPr>
          <p:nvPr/>
        </p:nvSpPr>
        <p:spPr>
          <a:xfrm>
            <a:off x="3662479" y="1931779"/>
            <a:ext cx="4596422" cy="4848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Analysis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2D8B92-CD2B-98A1-0340-0535504478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661" y="2184732"/>
            <a:ext cx="6099716" cy="4562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169073-9924-CFF5-4A94-13CAEEC488E6}"/>
              </a:ext>
            </a:extLst>
          </p:cNvPr>
          <p:cNvCxnSpPr>
            <a:cxnSpLocks/>
          </p:cNvCxnSpPr>
          <p:nvPr/>
        </p:nvCxnSpPr>
        <p:spPr>
          <a:xfrm>
            <a:off x="3393600" y="1975601"/>
            <a:ext cx="0" cy="45777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E222B0-1AF2-09F3-85FC-28FB2C09DA21}"/>
              </a:ext>
            </a:extLst>
          </p:cNvPr>
          <p:cNvSpPr txBox="1"/>
          <p:nvPr/>
        </p:nvSpPr>
        <p:spPr>
          <a:xfrm>
            <a:off x="9556377" y="2287046"/>
            <a:ext cx="230392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eaLnBrk="1" latinLnBrk="0" hangingPunct="1">
              <a:buFont typeface="Arial" panose="020B0604020202020204" pitchFamily="34" charset="0"/>
              <a:buChar char="•"/>
            </a:pPr>
            <a:r>
              <a:rPr lang="en-IN" sz="15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LFI ↔ Learning Effectiveness: r = -0.67 (p &lt; 0.01) - strong negative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1" latinLnBrk="0" hangingPunct="1">
              <a:buFont typeface="Arial" panose="020B0604020202020204" pitchFamily="34" charset="0"/>
              <a:buChar char="•"/>
            </a:pPr>
            <a:r>
              <a:rPr lang="en-IN" sz="15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RDP ↔ Learning Effectiveness: r = -0.58 (p &lt; 0.01) - moderately negative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1" latinLnBrk="0" hangingPunct="1">
              <a:buFont typeface="Arial" panose="020B0604020202020204" pitchFamily="34" charset="0"/>
              <a:buChar char="•"/>
            </a:pPr>
            <a:r>
              <a:rPr lang="en-IN" sz="15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LFI ↔ RDP: r = 0.54 - fragmented learners are also more likely to be replay-dependent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eaLnBrk="1" latinLnBrk="0" hangingPunct="1">
              <a:buFont typeface="Arial" panose="020B0604020202020204" pitchFamily="34" charset="0"/>
              <a:buChar char="•"/>
            </a:pPr>
            <a:r>
              <a:rPr lang="en-IN" sz="15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Stability:</a:t>
            </a:r>
            <a:r>
              <a:rPr lang="en-IN" sz="15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significant linear trend over 4 weeks (LFI: p=0.68; RDP: p=0.74), suggesting stable individual traits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C2026-7065-49DF-77ED-46EA8EAEC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5120BE-DE34-EF35-C181-87160D29D91B}"/>
              </a:ext>
            </a:extLst>
          </p:cNvPr>
          <p:cNvSpPr txBox="1"/>
          <p:nvPr/>
        </p:nvSpPr>
        <p:spPr>
          <a:xfrm>
            <a:off x="3893271" y="751885"/>
            <a:ext cx="5467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4414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A6EB-14E8-000D-741E-E3E2C340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C1627F-79BF-E816-B6C0-C248F6AA3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293" y="2022915"/>
            <a:ext cx="4429202" cy="4562668"/>
          </a:xfrm>
        </p:spPr>
        <p:txBody>
          <a:bodyPr>
            <a:normAutofit/>
          </a:bodyPr>
          <a:lstStyle/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Group Classification (N=120)</a:t>
            </a: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effectiveness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significantly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higher risk levels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learners show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satisfaction and performance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behavioral separation between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moderate, and high-risk groups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strong relationship between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LFI, RDP and learning outcomes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F0E63F06-1B2E-D244-4226-36BE2774C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B00AA-18AF-2229-436C-82E6438C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829885"/>
              </p:ext>
            </p:extLst>
          </p:nvPr>
        </p:nvGraphicFramePr>
        <p:xfrm>
          <a:off x="197293" y="2392246"/>
          <a:ext cx="4429202" cy="1508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22573">
                  <a:extLst>
                    <a:ext uri="{9D8B030D-6E8A-4147-A177-3AD203B41FA5}">
                      <a16:colId xmlns:a16="http://schemas.microsoft.com/office/drawing/2014/main" val="2664880498"/>
                    </a:ext>
                  </a:extLst>
                </a:gridCol>
                <a:gridCol w="835905">
                  <a:extLst>
                    <a:ext uri="{9D8B030D-6E8A-4147-A177-3AD203B41FA5}">
                      <a16:colId xmlns:a16="http://schemas.microsoft.com/office/drawing/2014/main" val="846675885"/>
                    </a:ext>
                  </a:extLst>
                </a:gridCol>
                <a:gridCol w="1379793">
                  <a:extLst>
                    <a:ext uri="{9D8B030D-6E8A-4147-A177-3AD203B41FA5}">
                      <a16:colId xmlns:a16="http://schemas.microsoft.com/office/drawing/2014/main" val="1383604666"/>
                    </a:ext>
                  </a:extLst>
                </a:gridCol>
                <a:gridCol w="1190931">
                  <a:extLst>
                    <a:ext uri="{9D8B030D-6E8A-4147-A177-3AD203B41FA5}">
                      <a16:colId xmlns:a16="http://schemas.microsoft.com/office/drawing/2014/main" val="21734859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Effectiveness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Satisfaction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213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12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271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395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604453-EB7D-6F97-BBB6-862DDEE9C7CC}"/>
              </a:ext>
            </a:extLst>
          </p:cNvPr>
          <p:cNvSpPr txBox="1"/>
          <p:nvPr/>
        </p:nvSpPr>
        <p:spPr>
          <a:xfrm>
            <a:off x="3469047" y="635703"/>
            <a:ext cx="4949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EE329F-8627-9AEE-028D-4437DF7A8B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3"/>
          <a:stretch>
            <a:fillRect/>
          </a:stretch>
        </p:blipFill>
        <p:spPr bwMode="auto">
          <a:xfrm>
            <a:off x="4742329" y="1726915"/>
            <a:ext cx="7251743" cy="4858668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73D7C-0F62-9D3C-6E50-823C0BEBE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5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1FE9-571C-172C-F40A-E7AA68CB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B8D387-19AB-3876-6E35-B52D30790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456266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Conclusions: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LFI and RDP are validated, reliable behavioral metrics for online learning assessment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fragmentation and replay dependency negatively correlate with learning effectiveness (r = -0.67, -0.58)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LFI-RDP model identifies at-risk learners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82.5% accuracy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practical early-warning tool</a:t>
            </a:r>
          </a:p>
          <a:p>
            <a:pPr algn="l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LFI/RDP against objective system logs from LMS platforms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studies to test whether LFI/RDP are stable traits or context-dependent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 studies: test if targeted support improves LFI, RDP and academic outcomes</a:t>
            </a:r>
          </a:p>
          <a:p>
            <a:pPr marL="228600" indent="228600" algn="l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metrics to reading-based and simulation-based learning environments</a:t>
            </a: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27039FC9-7729-0266-2ECA-AA9730C47E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8AB6B-E3EF-FF14-8498-2AB8AC3D5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4FBB-5A06-FF15-6EBC-5797670D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B58FF6-351C-25EB-697B-1B57E8B79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82" y="1520891"/>
            <a:ext cx="10916816" cy="4562668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E. Er, G. Özden, and M. Y. Özden, “Identifying behavioral patterns in MOOC video engagement using clustering approach,” Egitim Teknolojisi Kuram ve Uygulama, vol. 14, no. 2, pp. 45–62, 2024.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Y. Sheng, L. Wang, and X. Chen, “Multimodal non-semantic feature fusion for predicting segment access frequency in lecture archives,” arXiv:2504.14927, 2025.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G. Akçapinar, A. Altun, and P. Aşkar, “Decoding video logs: Unveiling student engagement patterns in lecture capture videos,” Int. Rev. Res. Open Distrib. Learn., vol. 25, no. 2, pp. 123–145, 2024.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L. Bühler, M. Bétrancourt, and P. Dillenbourg, “On task and in sync: gaze synchrony and self-reported attention during video lecture learning,” Proc. ACM HCI, vol. 8, CSCW1, 2024.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Kim, J. Park, and H. Lee, “Characteristic behaviors of elementary students in low attention states during online learning identified using EEG,” IEEE Trans. Learn. Technol., vol. 16, no. 5, pp. 678–692, 2023.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Marty-Dugas, C. Ralph, and D. Smilek, “Active vs passive media multitasking and memory for lecture materials,” Heliyon, vol. 10, no. 11, p. e31935, 2024.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Y. Zhang, L. Liu, and X. Wang, “Question generation type and organizational cues in video learning,” Active Learning Higher Educ., 2024. | [8] C. Kavitha et al., “Learning behaviour analysis using EEG and facial expression data,” Measurement: Sensors, vol. 27, 2023.</a:t>
            </a:r>
          </a:p>
          <a:p>
            <a:pPr algn="l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J. Liang et al., “Teaching expectancy improves video-based learning,” Brit. J. Educ. Technol., vol. 55, no. 4, 2024. | [10] C. Vale et al., “Using learning analytics to understand K–12 learner behavior in online video-based learning,” Online Learning, vol. 28, no. 1, 2024.</a:t>
            </a:r>
          </a:p>
        </p:txBody>
      </p:sp>
      <p:sp>
        <p:nvSpPr>
          <p:cNvPr id="2" name="AutoShape 2" descr="Conference Logo">
            <a:extLst>
              <a:ext uri="{FF2B5EF4-FFF2-40B4-BE49-F238E27FC236}">
                <a16:creationId xmlns:a16="http://schemas.microsoft.com/office/drawing/2014/main" id="{D731FE69-FCEE-DF66-1793-443C1AB435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4ED2C-F958-286F-FC50-0BAE04AC4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6" y="112086"/>
            <a:ext cx="662910" cy="11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46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1348</Words>
  <Application>Microsoft Office PowerPoint</Application>
  <PresentationFormat>Widescreen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Casper</vt:lpstr>
      <vt:lpstr>Raleway ExtraBold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RAJ SINGH</cp:lastModifiedBy>
  <cp:revision>31</cp:revision>
  <dcterms:created xsi:type="dcterms:W3CDTF">2021-02-05T14:09:33Z</dcterms:created>
  <dcterms:modified xsi:type="dcterms:W3CDTF">2026-04-22T04:33:03Z</dcterms:modified>
</cp:coreProperties>
</file>