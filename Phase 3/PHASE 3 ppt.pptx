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702" r:id="rId2"/>
    <p:sldMasterId id="2147483686" r:id="rId3"/>
  </p:sldMasterIdLst>
  <p:notesMasterIdLst>
    <p:notesMasterId r:id="rId12"/>
  </p:notesMasterIdLst>
  <p:handoutMasterIdLst>
    <p:handoutMasterId r:id="rId13"/>
  </p:handoutMasterIdLst>
  <p:sldIdLst>
    <p:sldId id="277" r:id="rId4"/>
    <p:sldId id="399" r:id="rId5"/>
    <p:sldId id="400" r:id="rId6"/>
    <p:sldId id="401" r:id="rId7"/>
    <p:sldId id="406" r:id="rId8"/>
    <p:sldId id="402" r:id="rId9"/>
    <p:sldId id="407" r:id="rId10"/>
    <p:sldId id="40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6060"/>
    <a:srgbClr val="F64040"/>
    <a:srgbClr val="B92323"/>
    <a:srgbClr val="C1231A"/>
    <a:srgbClr val="ED8137"/>
    <a:srgbClr val="BC8F00"/>
    <a:srgbClr val="860000"/>
    <a:srgbClr val="00B0F0"/>
    <a:srgbClr val="1B3F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2153" autoAdjust="0"/>
    <p:restoredTop sz="94660" autoAdjust="0"/>
  </p:normalViewPr>
  <p:slideViewPr>
    <p:cSldViewPr snapToGrid="0">
      <p:cViewPr varScale="1">
        <p:scale>
          <a:sx n="81" d="100"/>
          <a:sy n="81" d="100"/>
        </p:scale>
        <p:origin x="350" y="67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7" d="100"/>
          <a:sy n="67" d="100"/>
        </p:scale>
        <p:origin x="-3168" y="-77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handoutMaster" Target="handoutMasters/handoutMaster1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viewProps" Target="viewProps.xml"/><Relationship Id="rId10" Type="http://schemas.openxmlformats.org/officeDocument/2006/relationships/slide" Target="slides/slide7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CDA8E9-9948-4BC7-A1DE-415AE6D34228}" type="datetimeFigureOut">
              <a:rPr lang="en-US" smtClean="0"/>
              <a:pPr/>
              <a:t>3/23/2026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9B5F544-A886-482E-AF73-1D6364AAC65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91961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A4AE53-78AB-4E30-A376-70F5FA87A326}" type="datetimeFigureOut">
              <a:rPr lang="en-US" smtClean="0"/>
              <a:pPr/>
              <a:t>3/23/2026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732FBC-CC67-4B17-8935-02F23E3364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55582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DBBEF-AA6C-4BA6-85B2-A17D7F280E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197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DBBEF-AA6C-4BA6-85B2-A17D7F280E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3695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DBBEF-AA6C-4BA6-85B2-A17D7F280E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14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DBBEF-AA6C-4BA6-85B2-A17D7F280E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2016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DBBEF-AA6C-4BA6-85B2-A17D7F280E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2169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DBBEF-AA6C-4BA6-85B2-A17D7F280E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2041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DBBEF-AA6C-4BA6-85B2-A17D7F280E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193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DBBEF-AA6C-4BA6-85B2-A17D7F280E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18609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DBBEF-AA6C-4BA6-85B2-A17D7F280E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7627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DBBEF-AA6C-4BA6-85B2-A17D7F280E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8157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DBBEF-AA6C-4BA6-85B2-A17D7F280E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4941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1"/>
          <p:cNvSpPr/>
          <p:nvPr userDrawn="1"/>
        </p:nvSpPr>
        <p:spPr>
          <a:xfrm>
            <a:off x="-19050" y="1905000"/>
            <a:ext cx="12211050" cy="4953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4" name="Прямоугольник 8"/>
          <p:cNvSpPr/>
          <p:nvPr userDrawn="1"/>
        </p:nvSpPr>
        <p:spPr>
          <a:xfrm>
            <a:off x="-19050" y="0"/>
            <a:ext cx="12211050" cy="4438650"/>
          </a:xfrm>
          <a:custGeom>
            <a:avLst/>
            <a:gdLst>
              <a:gd name="connsiteX0" fmla="*/ 0 w 12192000"/>
              <a:gd name="connsiteY0" fmla="*/ 0 h 4133850"/>
              <a:gd name="connsiteX1" fmla="*/ 12192000 w 12192000"/>
              <a:gd name="connsiteY1" fmla="*/ 0 h 4133850"/>
              <a:gd name="connsiteX2" fmla="*/ 12192000 w 12192000"/>
              <a:gd name="connsiteY2" fmla="*/ 4133850 h 4133850"/>
              <a:gd name="connsiteX3" fmla="*/ 0 w 12192000"/>
              <a:gd name="connsiteY3" fmla="*/ 4133850 h 4133850"/>
              <a:gd name="connsiteX4" fmla="*/ 0 w 12192000"/>
              <a:gd name="connsiteY4" fmla="*/ 0 h 4133850"/>
              <a:gd name="connsiteX0" fmla="*/ 19050 w 12211050"/>
              <a:gd name="connsiteY0" fmla="*/ 0 h 4133850"/>
              <a:gd name="connsiteX1" fmla="*/ 12211050 w 12211050"/>
              <a:gd name="connsiteY1" fmla="*/ 0 h 4133850"/>
              <a:gd name="connsiteX2" fmla="*/ 12211050 w 12211050"/>
              <a:gd name="connsiteY2" fmla="*/ 4133850 h 4133850"/>
              <a:gd name="connsiteX3" fmla="*/ 0 w 12211050"/>
              <a:gd name="connsiteY3" fmla="*/ 3219450 h 4133850"/>
              <a:gd name="connsiteX4" fmla="*/ 19050 w 12211050"/>
              <a:gd name="connsiteY4" fmla="*/ 0 h 4133850"/>
              <a:gd name="connsiteX0" fmla="*/ 19050 w 12211050"/>
              <a:gd name="connsiteY0" fmla="*/ 0 h 4438650"/>
              <a:gd name="connsiteX1" fmla="*/ 12211050 w 12211050"/>
              <a:gd name="connsiteY1" fmla="*/ 0 h 4438650"/>
              <a:gd name="connsiteX2" fmla="*/ 12211050 w 12211050"/>
              <a:gd name="connsiteY2" fmla="*/ 4438650 h 4438650"/>
              <a:gd name="connsiteX3" fmla="*/ 0 w 12211050"/>
              <a:gd name="connsiteY3" fmla="*/ 3219450 h 4438650"/>
              <a:gd name="connsiteX4" fmla="*/ 19050 w 12211050"/>
              <a:gd name="connsiteY4" fmla="*/ 0 h 4438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11050" h="4438650">
                <a:moveTo>
                  <a:pt x="19050" y="0"/>
                </a:moveTo>
                <a:lnTo>
                  <a:pt x="12211050" y="0"/>
                </a:lnTo>
                <a:lnTo>
                  <a:pt x="12211050" y="4438650"/>
                </a:lnTo>
                <a:lnTo>
                  <a:pt x="0" y="3219450"/>
                </a:lnTo>
                <a:lnTo>
                  <a:pt x="19050" y="0"/>
                </a:lnTo>
                <a:close/>
              </a:path>
            </a:pathLst>
          </a:cu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5" name="Прямоугольник 3"/>
          <p:cNvSpPr/>
          <p:nvPr userDrawn="1"/>
        </p:nvSpPr>
        <p:spPr>
          <a:xfrm>
            <a:off x="1085850" y="1009650"/>
            <a:ext cx="10020300" cy="52387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8" name="Рисунок 7"/>
          <p:cNvSpPr>
            <a:spLocks noGrp="1"/>
          </p:cNvSpPr>
          <p:nvPr>
            <p:ph type="pic" sz="quarter" idx="10"/>
          </p:nvPr>
        </p:nvSpPr>
        <p:spPr>
          <a:xfrm>
            <a:off x="1847850" y="2819400"/>
            <a:ext cx="8496300" cy="2800350"/>
          </a:xfrm>
          <a:prstGeom prst="rect">
            <a:avLst/>
          </a:prstGeom>
        </p:spPr>
        <p:txBody>
          <a:bodyPr/>
          <a:lstStyle/>
          <a:p>
            <a:pPr lv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39740816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DBBEF-AA6C-4BA6-85B2-A17D7F280E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197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DBBEF-AA6C-4BA6-85B2-A17D7F280E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3695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DBBEF-AA6C-4BA6-85B2-A17D7F280E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1434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DBBEF-AA6C-4BA6-85B2-A17D7F280E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20167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DBBEF-AA6C-4BA6-85B2-A17D7F280E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2169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DBBEF-AA6C-4BA6-85B2-A17D7F280E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20412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DBBEF-AA6C-4BA6-85B2-A17D7F280E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193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DBBEF-AA6C-4BA6-85B2-A17D7F280E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186090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DBBEF-AA6C-4BA6-85B2-A17D7F280E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76270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DBBEF-AA6C-4BA6-85B2-A17D7F280E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81576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DBBEF-AA6C-4BA6-85B2-A17D7F280E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49416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1"/>
          <p:cNvSpPr/>
          <p:nvPr userDrawn="1"/>
        </p:nvSpPr>
        <p:spPr>
          <a:xfrm>
            <a:off x="-19050" y="1905000"/>
            <a:ext cx="12211050" cy="4953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4" name="Прямоугольник 8"/>
          <p:cNvSpPr/>
          <p:nvPr userDrawn="1"/>
        </p:nvSpPr>
        <p:spPr>
          <a:xfrm>
            <a:off x="-19050" y="0"/>
            <a:ext cx="12211050" cy="4438650"/>
          </a:xfrm>
          <a:custGeom>
            <a:avLst/>
            <a:gdLst>
              <a:gd name="connsiteX0" fmla="*/ 0 w 12192000"/>
              <a:gd name="connsiteY0" fmla="*/ 0 h 4133850"/>
              <a:gd name="connsiteX1" fmla="*/ 12192000 w 12192000"/>
              <a:gd name="connsiteY1" fmla="*/ 0 h 4133850"/>
              <a:gd name="connsiteX2" fmla="*/ 12192000 w 12192000"/>
              <a:gd name="connsiteY2" fmla="*/ 4133850 h 4133850"/>
              <a:gd name="connsiteX3" fmla="*/ 0 w 12192000"/>
              <a:gd name="connsiteY3" fmla="*/ 4133850 h 4133850"/>
              <a:gd name="connsiteX4" fmla="*/ 0 w 12192000"/>
              <a:gd name="connsiteY4" fmla="*/ 0 h 4133850"/>
              <a:gd name="connsiteX0" fmla="*/ 19050 w 12211050"/>
              <a:gd name="connsiteY0" fmla="*/ 0 h 4133850"/>
              <a:gd name="connsiteX1" fmla="*/ 12211050 w 12211050"/>
              <a:gd name="connsiteY1" fmla="*/ 0 h 4133850"/>
              <a:gd name="connsiteX2" fmla="*/ 12211050 w 12211050"/>
              <a:gd name="connsiteY2" fmla="*/ 4133850 h 4133850"/>
              <a:gd name="connsiteX3" fmla="*/ 0 w 12211050"/>
              <a:gd name="connsiteY3" fmla="*/ 3219450 h 4133850"/>
              <a:gd name="connsiteX4" fmla="*/ 19050 w 12211050"/>
              <a:gd name="connsiteY4" fmla="*/ 0 h 4133850"/>
              <a:gd name="connsiteX0" fmla="*/ 19050 w 12211050"/>
              <a:gd name="connsiteY0" fmla="*/ 0 h 4438650"/>
              <a:gd name="connsiteX1" fmla="*/ 12211050 w 12211050"/>
              <a:gd name="connsiteY1" fmla="*/ 0 h 4438650"/>
              <a:gd name="connsiteX2" fmla="*/ 12211050 w 12211050"/>
              <a:gd name="connsiteY2" fmla="*/ 4438650 h 4438650"/>
              <a:gd name="connsiteX3" fmla="*/ 0 w 12211050"/>
              <a:gd name="connsiteY3" fmla="*/ 3219450 h 4438650"/>
              <a:gd name="connsiteX4" fmla="*/ 19050 w 12211050"/>
              <a:gd name="connsiteY4" fmla="*/ 0 h 4438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11050" h="4438650">
                <a:moveTo>
                  <a:pt x="19050" y="0"/>
                </a:moveTo>
                <a:lnTo>
                  <a:pt x="12211050" y="0"/>
                </a:lnTo>
                <a:lnTo>
                  <a:pt x="12211050" y="4438650"/>
                </a:lnTo>
                <a:lnTo>
                  <a:pt x="0" y="3219450"/>
                </a:lnTo>
                <a:lnTo>
                  <a:pt x="19050" y="0"/>
                </a:lnTo>
                <a:close/>
              </a:path>
            </a:pathLst>
          </a:cu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5" name="Прямоугольник 3"/>
          <p:cNvSpPr/>
          <p:nvPr userDrawn="1"/>
        </p:nvSpPr>
        <p:spPr>
          <a:xfrm>
            <a:off x="1085850" y="1009650"/>
            <a:ext cx="10020300" cy="52387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8" name="Рисунок 7"/>
          <p:cNvSpPr>
            <a:spLocks noGrp="1"/>
          </p:cNvSpPr>
          <p:nvPr>
            <p:ph type="pic" sz="quarter" idx="10"/>
          </p:nvPr>
        </p:nvSpPr>
        <p:spPr>
          <a:xfrm>
            <a:off x="1847850" y="2819400"/>
            <a:ext cx="8496300" cy="2800350"/>
          </a:xfrm>
          <a:prstGeom prst="rect">
            <a:avLst/>
          </a:prstGeom>
        </p:spPr>
        <p:txBody>
          <a:bodyPr/>
          <a:lstStyle/>
          <a:p>
            <a:pPr lv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397408168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9A48AB-23F1-45F1-98E5-D2CDC7A5261D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683537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Layout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302043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ic Layout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164638"/>
            <a:ext cx="12192000" cy="76808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800" b="0" baseline="0"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0" y="932723"/>
            <a:ext cx="12192000" cy="38404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67" b="0" baseline="0"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 of your subtitle Here</a:t>
            </a:r>
          </a:p>
        </p:txBody>
      </p:sp>
      <p:sp>
        <p:nvSpPr>
          <p:cNvPr id="2" name="Rectangle 1"/>
          <p:cNvSpPr/>
          <p:nvPr userDrawn="1"/>
        </p:nvSpPr>
        <p:spPr>
          <a:xfrm>
            <a:off x="4037371" y="1"/>
            <a:ext cx="4128459" cy="6095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1"/>
            <a:endParaRPr lang="en-US" sz="2400">
              <a:solidFill>
                <a:prstClr val="white"/>
              </a:solidFill>
            </a:endParaRPr>
          </a:p>
        </p:txBody>
      </p:sp>
      <p:sp>
        <p:nvSpPr>
          <p:cNvPr id="5" name="Rectangle 4"/>
          <p:cNvSpPr/>
          <p:nvPr userDrawn="1"/>
        </p:nvSpPr>
        <p:spPr>
          <a:xfrm>
            <a:off x="0" y="6753308"/>
            <a:ext cx="12192000" cy="1108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1"/>
            <a:endParaRPr lang="en-US" sz="24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9096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ic Layou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164638"/>
            <a:ext cx="12192000" cy="76808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800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0" y="932723"/>
            <a:ext cx="12192000" cy="38404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67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 of your subtitle Here</a:t>
            </a:r>
          </a:p>
        </p:txBody>
      </p:sp>
      <p:sp>
        <p:nvSpPr>
          <p:cNvPr id="2" name="Rectangle 1"/>
          <p:cNvSpPr/>
          <p:nvPr userDrawn="1"/>
        </p:nvSpPr>
        <p:spPr>
          <a:xfrm>
            <a:off x="4037371" y="1"/>
            <a:ext cx="4128459" cy="6095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1"/>
            <a:endParaRPr lang="en-US" sz="2400">
              <a:solidFill>
                <a:prstClr val="white"/>
              </a:solidFill>
            </a:endParaRPr>
          </a:p>
        </p:txBody>
      </p:sp>
      <p:sp>
        <p:nvSpPr>
          <p:cNvPr id="5" name="Rectangle 4"/>
          <p:cNvSpPr/>
          <p:nvPr userDrawn="1"/>
        </p:nvSpPr>
        <p:spPr>
          <a:xfrm>
            <a:off x="0" y="6753308"/>
            <a:ext cx="12192000" cy="1108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1"/>
            <a:endParaRPr lang="en-US" sz="24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271595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asic Layou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2735627" y="164638"/>
            <a:ext cx="9456373" cy="768085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4800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BASIC LAYOUT</a:t>
            </a:r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2735627" y="932723"/>
            <a:ext cx="9456373" cy="384043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1867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 of your subtitle Here</a:t>
            </a:r>
          </a:p>
        </p:txBody>
      </p:sp>
      <p:sp>
        <p:nvSpPr>
          <p:cNvPr id="5" name="Rectangle 4"/>
          <p:cNvSpPr/>
          <p:nvPr userDrawn="1"/>
        </p:nvSpPr>
        <p:spPr>
          <a:xfrm>
            <a:off x="0" y="1"/>
            <a:ext cx="2543605" cy="686418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1"/>
            <a:endParaRPr lang="en-US" sz="24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043781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242176"/>
            <a:ext cx="12192000" cy="76808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800" b="0" baseline="0"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IMAGES &amp; CONTENTS</a:t>
            </a:r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0" y="1010261"/>
            <a:ext cx="12192000" cy="38404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67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 of your subtitle Here</a:t>
            </a:r>
          </a:p>
        </p:txBody>
      </p:sp>
      <p:sp>
        <p:nvSpPr>
          <p:cNvPr id="2" name="Rectangle 1"/>
          <p:cNvSpPr/>
          <p:nvPr userDrawn="1"/>
        </p:nvSpPr>
        <p:spPr>
          <a:xfrm>
            <a:off x="0" y="2276872"/>
            <a:ext cx="12192000" cy="2400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latinLnBrk="1"/>
            <a:endParaRPr lang="ko-KR" altLang="en-US" sz="2400">
              <a:solidFill>
                <a:prstClr val="white"/>
              </a:solidFill>
            </a:endParaRPr>
          </a:p>
        </p:txBody>
      </p:sp>
      <p:sp>
        <p:nvSpPr>
          <p:cNvPr id="3" name="Isosceles Triangle 2"/>
          <p:cNvSpPr/>
          <p:nvPr userDrawn="1"/>
        </p:nvSpPr>
        <p:spPr>
          <a:xfrm rot="10800000">
            <a:off x="1583392" y="4677509"/>
            <a:ext cx="384043" cy="331071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latinLnBrk="1"/>
            <a:endParaRPr lang="ko-KR" altLang="en-US" sz="2400">
              <a:solidFill>
                <a:prstClr val="white"/>
              </a:solidFill>
            </a:endParaRPr>
          </a:p>
        </p:txBody>
      </p:sp>
      <p:sp>
        <p:nvSpPr>
          <p:cNvPr id="12" name="Isosceles Triangle 11"/>
          <p:cNvSpPr/>
          <p:nvPr userDrawn="1"/>
        </p:nvSpPr>
        <p:spPr>
          <a:xfrm rot="10800000">
            <a:off x="4463712" y="4677509"/>
            <a:ext cx="384043" cy="331071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latinLnBrk="1"/>
            <a:endParaRPr lang="ko-KR" altLang="en-US" sz="2400">
              <a:solidFill>
                <a:prstClr val="white"/>
              </a:solidFill>
            </a:endParaRPr>
          </a:p>
        </p:txBody>
      </p:sp>
      <p:sp>
        <p:nvSpPr>
          <p:cNvPr id="13" name="Isosceles Triangle 12"/>
          <p:cNvSpPr/>
          <p:nvPr userDrawn="1"/>
        </p:nvSpPr>
        <p:spPr>
          <a:xfrm rot="10800000">
            <a:off x="7344032" y="4677509"/>
            <a:ext cx="384043" cy="331071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latinLnBrk="1"/>
            <a:endParaRPr lang="ko-KR" altLang="en-US" sz="2400">
              <a:solidFill>
                <a:prstClr val="white"/>
              </a:solidFill>
            </a:endParaRPr>
          </a:p>
        </p:txBody>
      </p:sp>
      <p:sp>
        <p:nvSpPr>
          <p:cNvPr id="14" name="Isosceles Triangle 13"/>
          <p:cNvSpPr/>
          <p:nvPr userDrawn="1"/>
        </p:nvSpPr>
        <p:spPr>
          <a:xfrm rot="10800000">
            <a:off x="10224348" y="4677509"/>
            <a:ext cx="384043" cy="331071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latinLnBrk="1"/>
            <a:endParaRPr lang="ko-KR" altLang="en-US" sz="2400">
              <a:solidFill>
                <a:prstClr val="white"/>
              </a:solidFill>
            </a:endParaRPr>
          </a:p>
        </p:txBody>
      </p:sp>
      <p:sp>
        <p:nvSpPr>
          <p:cNvPr id="15" name="Rectangle 14"/>
          <p:cNvSpPr/>
          <p:nvPr userDrawn="1"/>
        </p:nvSpPr>
        <p:spPr>
          <a:xfrm>
            <a:off x="4037371" y="1"/>
            <a:ext cx="4128459" cy="6095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1"/>
            <a:endParaRPr lang="en-US" sz="2400">
              <a:solidFill>
                <a:prstClr val="white"/>
              </a:solidFill>
            </a:endParaRPr>
          </a:p>
        </p:txBody>
      </p:sp>
      <p:sp>
        <p:nvSpPr>
          <p:cNvPr id="16" name="Rectangle 15"/>
          <p:cNvSpPr/>
          <p:nvPr userDrawn="1"/>
        </p:nvSpPr>
        <p:spPr>
          <a:xfrm>
            <a:off x="0" y="6753308"/>
            <a:ext cx="12192000" cy="1108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1"/>
            <a:endParaRPr lang="en-US" sz="2400">
              <a:solidFill>
                <a:prstClr val="white"/>
              </a:solidFill>
            </a:endParaRPr>
          </a:p>
        </p:txBody>
      </p:sp>
      <p:sp>
        <p:nvSpPr>
          <p:cNvPr id="17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815413" y="2517005"/>
            <a:ext cx="1920000" cy="19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8" name="Picture Placeholder 2"/>
          <p:cNvSpPr>
            <a:spLocks noGrp="1"/>
          </p:cNvSpPr>
          <p:nvPr>
            <p:ph type="pic" idx="12" hasCustomPrompt="1"/>
          </p:nvPr>
        </p:nvSpPr>
        <p:spPr>
          <a:xfrm>
            <a:off x="3695732" y="2517005"/>
            <a:ext cx="1920000" cy="19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9" name="Picture Placeholder 2"/>
          <p:cNvSpPr>
            <a:spLocks noGrp="1"/>
          </p:cNvSpPr>
          <p:nvPr>
            <p:ph type="pic" idx="13" hasCustomPrompt="1"/>
          </p:nvPr>
        </p:nvSpPr>
        <p:spPr>
          <a:xfrm>
            <a:off x="6576051" y="2517005"/>
            <a:ext cx="1920000" cy="19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20" name="Picture Placeholder 2"/>
          <p:cNvSpPr>
            <a:spLocks noGrp="1"/>
          </p:cNvSpPr>
          <p:nvPr>
            <p:ph type="pic" idx="14" hasCustomPrompt="1"/>
          </p:nvPr>
        </p:nvSpPr>
        <p:spPr>
          <a:xfrm>
            <a:off x="9456369" y="2517005"/>
            <a:ext cx="1920000" cy="19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7721753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5231904" y="2276872"/>
            <a:ext cx="5711957" cy="393643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latinLnBrk="1"/>
            <a:endParaRPr lang="ko-KR" altLang="en-US" sz="2400">
              <a:solidFill>
                <a:prstClr val="black">
                  <a:lumMod val="75000"/>
                  <a:lumOff val="25000"/>
                </a:prstClr>
              </a:solidFill>
            </a:endParaRPr>
          </a:p>
        </p:txBody>
      </p:sp>
      <p:sp>
        <p:nvSpPr>
          <p:cNvPr id="7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1103445" y="1412776"/>
            <a:ext cx="4560000" cy="369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6200522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0" y="990600"/>
            <a:ext cx="3887755" cy="58674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8" name="Picture Placeholder 2"/>
          <p:cNvSpPr>
            <a:spLocks noGrp="1"/>
          </p:cNvSpPr>
          <p:nvPr>
            <p:ph type="pic" idx="11" hasCustomPrompt="1"/>
          </p:nvPr>
        </p:nvSpPr>
        <p:spPr>
          <a:xfrm>
            <a:off x="4079776" y="0"/>
            <a:ext cx="8112224" cy="362102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957474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0" y="1013496"/>
            <a:ext cx="3887755" cy="356763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2" name="Picture Placeholder 2"/>
          <p:cNvSpPr>
            <a:spLocks noGrp="1"/>
          </p:cNvSpPr>
          <p:nvPr>
            <p:ph type="pic" idx="10" hasCustomPrompt="1"/>
          </p:nvPr>
        </p:nvSpPr>
        <p:spPr>
          <a:xfrm>
            <a:off x="8304245" y="0"/>
            <a:ext cx="3887755" cy="458112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3" name="Picture Placeholder 2"/>
          <p:cNvSpPr>
            <a:spLocks noGrp="1"/>
          </p:cNvSpPr>
          <p:nvPr>
            <p:ph type="pic" idx="11" hasCustomPrompt="1"/>
          </p:nvPr>
        </p:nvSpPr>
        <p:spPr>
          <a:xfrm>
            <a:off x="0" y="4773149"/>
            <a:ext cx="6096000" cy="208485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4759519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242176"/>
            <a:ext cx="12192000" cy="76808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800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IMAGES &amp; CONTENTS</a:t>
            </a:r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0" y="1010261"/>
            <a:ext cx="12192000" cy="38404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67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 of your subtitle Here</a:t>
            </a:r>
          </a:p>
        </p:txBody>
      </p:sp>
      <p:sp>
        <p:nvSpPr>
          <p:cNvPr id="2" name="Rectangle 1"/>
          <p:cNvSpPr/>
          <p:nvPr userDrawn="1"/>
        </p:nvSpPr>
        <p:spPr>
          <a:xfrm>
            <a:off x="595027" y="4101331"/>
            <a:ext cx="2400000" cy="2304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latinLnBrk="1"/>
            <a:endParaRPr lang="ko-KR" altLang="en-US" sz="1600">
              <a:solidFill>
                <a:prstClr val="black">
                  <a:lumMod val="75000"/>
                  <a:lumOff val="25000"/>
                </a:prstClr>
              </a:solidFill>
            </a:endParaRPr>
          </a:p>
        </p:txBody>
      </p:sp>
      <p:sp>
        <p:nvSpPr>
          <p:cNvPr id="12" name="Rectangle 11"/>
          <p:cNvSpPr/>
          <p:nvPr userDrawn="1"/>
        </p:nvSpPr>
        <p:spPr>
          <a:xfrm>
            <a:off x="9196973" y="1700808"/>
            <a:ext cx="2400000" cy="2304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latinLnBrk="1"/>
            <a:endParaRPr lang="ko-KR" altLang="en-US" sz="1600">
              <a:solidFill>
                <a:prstClr val="black">
                  <a:lumMod val="75000"/>
                  <a:lumOff val="25000"/>
                </a:prstClr>
              </a:solidFill>
            </a:endParaRPr>
          </a:p>
        </p:txBody>
      </p:sp>
      <p:sp>
        <p:nvSpPr>
          <p:cNvPr id="13" name="Picture Placeholder 2"/>
          <p:cNvSpPr>
            <a:spLocks noGrp="1"/>
          </p:cNvSpPr>
          <p:nvPr>
            <p:ph type="pic" idx="12" hasCustomPrompt="1"/>
          </p:nvPr>
        </p:nvSpPr>
        <p:spPr>
          <a:xfrm>
            <a:off x="595027" y="1700808"/>
            <a:ext cx="2400000" cy="230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4" name="Picture Placeholder 2"/>
          <p:cNvSpPr>
            <a:spLocks noGrp="1"/>
          </p:cNvSpPr>
          <p:nvPr>
            <p:ph type="pic" idx="13" hasCustomPrompt="1"/>
          </p:nvPr>
        </p:nvSpPr>
        <p:spPr>
          <a:xfrm>
            <a:off x="9196973" y="4101331"/>
            <a:ext cx="2400000" cy="230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5" name="Picture Placeholder 2"/>
          <p:cNvSpPr>
            <a:spLocks noGrp="1"/>
          </p:cNvSpPr>
          <p:nvPr>
            <p:ph type="pic" idx="14" hasCustomPrompt="1"/>
          </p:nvPr>
        </p:nvSpPr>
        <p:spPr>
          <a:xfrm>
            <a:off x="3119669" y="4101331"/>
            <a:ext cx="5952663" cy="230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6" name="Picture Placeholder 2"/>
          <p:cNvSpPr>
            <a:spLocks noGrp="1"/>
          </p:cNvSpPr>
          <p:nvPr>
            <p:ph type="pic" idx="15" hasCustomPrompt="1"/>
          </p:nvPr>
        </p:nvSpPr>
        <p:spPr>
          <a:xfrm>
            <a:off x="3119669" y="1700808"/>
            <a:ext cx="5952663" cy="230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835944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2"/>
          <p:cNvSpPr>
            <a:spLocks noGrp="1"/>
          </p:cNvSpPr>
          <p:nvPr>
            <p:ph type="pic" idx="12" hasCustomPrompt="1"/>
          </p:nvPr>
        </p:nvSpPr>
        <p:spPr>
          <a:xfrm>
            <a:off x="709650" y="480055"/>
            <a:ext cx="4224469" cy="419708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7" name="Picture Placeholder 2"/>
          <p:cNvSpPr>
            <a:spLocks noGrp="1"/>
          </p:cNvSpPr>
          <p:nvPr>
            <p:ph type="pic" idx="13" hasCustomPrompt="1"/>
          </p:nvPr>
        </p:nvSpPr>
        <p:spPr>
          <a:xfrm>
            <a:off x="5126140" y="480056"/>
            <a:ext cx="6336704" cy="229610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8" name="Picture Placeholder 2"/>
          <p:cNvSpPr>
            <a:spLocks noGrp="1"/>
          </p:cNvSpPr>
          <p:nvPr>
            <p:ph type="pic" idx="14" hasCustomPrompt="1"/>
          </p:nvPr>
        </p:nvSpPr>
        <p:spPr>
          <a:xfrm>
            <a:off x="5126140" y="2948948"/>
            <a:ext cx="1968000" cy="17281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9" name="Picture Placeholder 2"/>
          <p:cNvSpPr>
            <a:spLocks noGrp="1"/>
          </p:cNvSpPr>
          <p:nvPr>
            <p:ph type="pic" idx="16" hasCustomPrompt="1"/>
          </p:nvPr>
        </p:nvSpPr>
        <p:spPr>
          <a:xfrm>
            <a:off x="7310492" y="2948948"/>
            <a:ext cx="1968000" cy="17281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20" name="Picture Placeholder 2"/>
          <p:cNvSpPr>
            <a:spLocks noGrp="1"/>
          </p:cNvSpPr>
          <p:nvPr>
            <p:ph type="pic" idx="17" hasCustomPrompt="1"/>
          </p:nvPr>
        </p:nvSpPr>
        <p:spPr>
          <a:xfrm>
            <a:off x="9494844" y="2948948"/>
            <a:ext cx="1968000" cy="17281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0230215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242176"/>
            <a:ext cx="12192000" cy="76808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800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IMAGES &amp; CONTENTS</a:t>
            </a:r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0" y="1010261"/>
            <a:ext cx="12192000" cy="38404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67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 of your subtitle Here</a:t>
            </a:r>
          </a:p>
        </p:txBody>
      </p:sp>
      <p:pic>
        <p:nvPicPr>
          <p:cNvPr id="5" name="그림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6767" y="2276873"/>
            <a:ext cx="7238124" cy="3966041"/>
          </a:xfrm>
          <a:prstGeom prst="rect">
            <a:avLst/>
          </a:prstGeom>
        </p:spPr>
      </p:pic>
      <p:sp>
        <p:nvSpPr>
          <p:cNvPr id="7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5705875" y="2485912"/>
            <a:ext cx="4832891" cy="31242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8" name="Rectangle 7"/>
          <p:cNvSpPr/>
          <p:nvPr userDrawn="1"/>
        </p:nvSpPr>
        <p:spPr>
          <a:xfrm>
            <a:off x="4037371" y="1"/>
            <a:ext cx="4128459" cy="60959"/>
          </a:xfrm>
          <a:prstGeom prst="rect">
            <a:avLst/>
          </a:prstGeom>
          <a:solidFill>
            <a:srgbClr val="EB494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1"/>
            <a:endParaRPr lang="en-US" sz="2400">
              <a:solidFill>
                <a:prstClr val="white"/>
              </a:solidFill>
            </a:endParaRPr>
          </a:p>
        </p:txBody>
      </p:sp>
      <p:sp>
        <p:nvSpPr>
          <p:cNvPr id="9" name="Rectangle 8"/>
          <p:cNvSpPr/>
          <p:nvPr userDrawn="1"/>
        </p:nvSpPr>
        <p:spPr>
          <a:xfrm>
            <a:off x="0" y="6753308"/>
            <a:ext cx="12192000" cy="110875"/>
          </a:xfrm>
          <a:prstGeom prst="rect">
            <a:avLst/>
          </a:prstGeom>
          <a:solidFill>
            <a:srgbClr val="EB494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1"/>
            <a:endParaRPr lang="en-US" sz="24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804153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242176"/>
            <a:ext cx="12192000" cy="76808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800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IMAGES &amp; CONTENTS</a:t>
            </a:r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0" y="1010261"/>
            <a:ext cx="12192000" cy="38404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67" b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Insert the title of your subtitle Here</a:t>
            </a:r>
          </a:p>
        </p:txBody>
      </p:sp>
      <p:pic>
        <p:nvPicPr>
          <p:cNvPr id="5" name="Picture 4" descr="D:\Fullppt\005-PNG이미지\모니터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400" y="1815747"/>
            <a:ext cx="3360373" cy="33505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D:\Fullppt\005-PNG이미지\모니터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06826" y="1815747"/>
            <a:ext cx="3360373" cy="33505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 descr="D:\Fullppt\005-PNG이미지\모니터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7251" y="1815747"/>
            <a:ext cx="3360373" cy="33505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909901" y="1957962"/>
            <a:ext cx="3073864" cy="208002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4" name="Picture Placeholder 2"/>
          <p:cNvSpPr>
            <a:spLocks noGrp="1"/>
          </p:cNvSpPr>
          <p:nvPr>
            <p:ph type="pic" idx="12" hasCustomPrompt="1"/>
          </p:nvPr>
        </p:nvSpPr>
        <p:spPr>
          <a:xfrm>
            <a:off x="4539561" y="1957962"/>
            <a:ext cx="3073864" cy="208002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5" name="Picture Placeholder 2"/>
          <p:cNvSpPr>
            <a:spLocks noGrp="1"/>
          </p:cNvSpPr>
          <p:nvPr>
            <p:ph type="pic" idx="13" hasCustomPrompt="1"/>
          </p:nvPr>
        </p:nvSpPr>
        <p:spPr>
          <a:xfrm>
            <a:off x="8169221" y="1957962"/>
            <a:ext cx="3073864" cy="208002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6" name="Rectangle 15"/>
          <p:cNvSpPr/>
          <p:nvPr userDrawn="1"/>
        </p:nvSpPr>
        <p:spPr>
          <a:xfrm>
            <a:off x="4037371" y="1"/>
            <a:ext cx="4128459" cy="6095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1"/>
            <a:endParaRPr lang="en-US" sz="2400">
              <a:solidFill>
                <a:prstClr val="white"/>
              </a:solidFill>
            </a:endParaRPr>
          </a:p>
        </p:txBody>
      </p:sp>
      <p:sp>
        <p:nvSpPr>
          <p:cNvPr id="17" name="Rectangle 16"/>
          <p:cNvSpPr/>
          <p:nvPr userDrawn="1"/>
        </p:nvSpPr>
        <p:spPr>
          <a:xfrm>
            <a:off x="0" y="6753308"/>
            <a:ext cx="12192000" cy="1108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1"/>
            <a:endParaRPr lang="en-US" sz="24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940683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0" y="0"/>
            <a:ext cx="12192000" cy="410107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1465714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 se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164638"/>
            <a:ext cx="12192000" cy="76808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800" b="0" baseline="0"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ICON SETS LAYOUT</a:t>
            </a:r>
          </a:p>
        </p:txBody>
      </p:sp>
      <p:grpSp>
        <p:nvGrpSpPr>
          <p:cNvPr id="5" name="Group 4"/>
          <p:cNvGrpSpPr/>
          <p:nvPr userDrawn="1"/>
        </p:nvGrpSpPr>
        <p:grpSpPr>
          <a:xfrm>
            <a:off x="472011" y="1508786"/>
            <a:ext cx="3799787" cy="4865561"/>
            <a:chOff x="354008" y="1131589"/>
            <a:chExt cx="2849840" cy="3649171"/>
          </a:xfrm>
        </p:grpSpPr>
        <p:sp>
          <p:nvSpPr>
            <p:cNvPr id="6" name="Rounded Rectangle 5"/>
            <p:cNvSpPr/>
            <p:nvPr/>
          </p:nvSpPr>
          <p:spPr>
            <a:xfrm>
              <a:off x="354008" y="1131589"/>
              <a:ext cx="2849840" cy="3649171"/>
            </a:xfrm>
            <a:prstGeom prst="roundRect">
              <a:avLst>
                <a:gd name="adj" fmla="val 3968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 dirty="0">
                <a:solidFill>
                  <a:prstClr val="white"/>
                </a:solidFill>
              </a:endParaRP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531932" y="1347500"/>
              <a:ext cx="108520" cy="3240473"/>
            </a:xfrm>
            <a:prstGeom prst="roundRect">
              <a:avLst>
                <a:gd name="adj" fmla="val 50000"/>
              </a:avLst>
            </a:prstGeom>
            <a:solidFill>
              <a:schemeClr val="bg1">
                <a:alpha val="4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white"/>
                </a:solidFill>
              </a:endParaRPr>
            </a:p>
          </p:txBody>
        </p:sp>
        <p:sp>
          <p:nvSpPr>
            <p:cNvPr id="12" name="Half Frame 11"/>
            <p:cNvSpPr/>
            <p:nvPr/>
          </p:nvSpPr>
          <p:spPr>
            <a:xfrm rot="5400000">
              <a:off x="2592642" y="1238201"/>
              <a:ext cx="502331" cy="502331"/>
            </a:xfrm>
            <a:prstGeom prst="halfFrame">
              <a:avLst>
                <a:gd name="adj1" fmla="val 23728"/>
                <a:gd name="adj2" fmla="val 24642"/>
              </a:avLst>
            </a:prstGeom>
            <a:solidFill>
              <a:schemeClr val="bg1">
                <a:alpha val="2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latinLnBrk="1"/>
              <a:endParaRPr lang="ko-KR" altLang="en-US" sz="2400">
                <a:solidFill>
                  <a:prstClr val="black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21978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5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3.xml"/><Relationship Id="rId13" Type="http://schemas.openxmlformats.org/officeDocument/2006/relationships/slideLayout" Target="../slideLayouts/slideLayout38.xml"/><Relationship Id="rId3" Type="http://schemas.openxmlformats.org/officeDocument/2006/relationships/slideLayout" Target="../slideLayouts/slideLayout28.xml"/><Relationship Id="rId7" Type="http://schemas.openxmlformats.org/officeDocument/2006/relationships/slideLayout" Target="../slideLayouts/slideLayout32.xml"/><Relationship Id="rId12" Type="http://schemas.openxmlformats.org/officeDocument/2006/relationships/slideLayout" Target="../slideLayouts/slideLayout37.xml"/><Relationship Id="rId2" Type="http://schemas.openxmlformats.org/officeDocument/2006/relationships/slideLayout" Target="../slideLayouts/slideLayout27.xml"/><Relationship Id="rId1" Type="http://schemas.openxmlformats.org/officeDocument/2006/relationships/slideLayout" Target="../slideLayouts/slideLayout26.xml"/><Relationship Id="rId6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0.xml"/><Relationship Id="rId15" Type="http://schemas.openxmlformats.org/officeDocument/2006/relationships/theme" Target="../theme/theme3.xml"/><Relationship Id="rId10" Type="http://schemas.openxmlformats.org/officeDocument/2006/relationships/slideLayout" Target="../slideLayouts/slideLayout35.xml"/><Relationship Id="rId4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4.xml"/><Relationship Id="rId14" Type="http://schemas.openxmlformats.org/officeDocument/2006/relationships/slideLayout" Target="../slideLayouts/slideLayout3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 cstate="print">
            <a:lum/>
          </a:blip>
          <a:srcRect/>
          <a:stretch>
            <a:fillRect l="1000" t="-1000" r="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CDBBEF-AA6C-4BA6-85B2-A17D7F280E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33913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5" cstate="print">
            <a:lum/>
          </a:blip>
          <a:srcRect/>
          <a:stretch>
            <a:fillRect l="1000" t="-1000" r="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CDBBEF-AA6C-4BA6-85B2-A17D7F280E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33913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  <p:sldLayoutId id="2147483708" r:id="rId6"/>
    <p:sldLayoutId id="2147483709" r:id="rId7"/>
    <p:sldLayoutId id="2147483710" r:id="rId8"/>
    <p:sldLayoutId id="2147483711" r:id="rId9"/>
    <p:sldLayoutId id="2147483712" r:id="rId10"/>
    <p:sldLayoutId id="2147483713" r:id="rId11"/>
    <p:sldLayoutId id="2147483714" r:id="rId12"/>
    <p:sldLayoutId id="2147483715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485446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  <p:sldLayoutId id="2147483700" r:id="rId14"/>
  </p:sldLayoutIdLst>
  <p:hf hdr="0" ftr="0" dt="0"/>
  <p:txStyles>
    <p:titleStyle>
      <a:lvl1pPr algn="ctr" defTabSz="1219170" rtl="0" eaLnBrk="1" latinLnBrk="1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1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1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1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1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1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1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eg"/><Relationship Id="rId3" Type="http://schemas.openxmlformats.org/officeDocument/2006/relationships/image" Target="../media/image7.jpeg"/><Relationship Id="rId7" Type="http://schemas.microsoft.com/office/2007/relationships/hdphoto" Target="../media/hdphoto1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/>
          <p:cNvSpPr/>
          <p:nvPr/>
        </p:nvSpPr>
        <p:spPr>
          <a:xfrm>
            <a:off x="-4421" y="6053794"/>
            <a:ext cx="12196420" cy="43919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/>
          <p:cNvSpPr/>
          <p:nvPr/>
        </p:nvSpPr>
        <p:spPr>
          <a:xfrm>
            <a:off x="302197" y="5901985"/>
            <a:ext cx="45719" cy="613881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Slide Number Placeholder 2"/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46" name="Right Triangle 45">
            <a:extLst>
              <a:ext uri="{FF2B5EF4-FFF2-40B4-BE49-F238E27FC236}">
                <a16:creationId xmlns:a16="http://schemas.microsoft.com/office/drawing/2014/main" id="{0983CA01-DED8-4A8A-82CA-5B1BE1DADB0C}"/>
              </a:ext>
            </a:extLst>
          </p:cNvPr>
          <p:cNvSpPr/>
          <p:nvPr/>
        </p:nvSpPr>
        <p:spPr>
          <a:xfrm flipV="1">
            <a:off x="9506857" y="5939880"/>
            <a:ext cx="1291772" cy="1157606"/>
          </a:xfrm>
          <a:prstGeom prst="rtTriangle">
            <a:avLst/>
          </a:prstGeom>
          <a:solidFill>
            <a:srgbClr val="FFFFFF">
              <a:lumMod val="95000"/>
              <a:alpha val="17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D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</a:endParaRPr>
          </a:p>
        </p:txBody>
      </p:sp>
      <p:sp>
        <p:nvSpPr>
          <p:cNvPr id="37" name="Right Triangle 36">
            <a:extLst>
              <a:ext uri="{FF2B5EF4-FFF2-40B4-BE49-F238E27FC236}">
                <a16:creationId xmlns:a16="http://schemas.microsoft.com/office/drawing/2014/main" id="{0983CA01-DED8-4A8A-82CA-5B1BE1DADB0C}"/>
              </a:ext>
            </a:extLst>
          </p:cNvPr>
          <p:cNvSpPr/>
          <p:nvPr/>
        </p:nvSpPr>
        <p:spPr>
          <a:xfrm flipH="1">
            <a:off x="7045437" y="-64960"/>
            <a:ext cx="5146562" cy="5852440"/>
          </a:xfrm>
          <a:prstGeom prst="rtTriangle">
            <a:avLst/>
          </a:prstGeom>
          <a:solidFill>
            <a:srgbClr val="FFFFFF">
              <a:lumMod val="95000"/>
              <a:alpha val="17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D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2698031" y="1001586"/>
            <a:ext cx="6829425" cy="3197189"/>
          </a:xfrm>
          <a:prstGeom prst="rect">
            <a:avLst/>
          </a:prstGeom>
          <a:gradFill flip="none" rotWithShape="1">
            <a:gsLst>
              <a:gs pos="15000">
                <a:srgbClr val="FFFFFF">
                  <a:alpha val="34000"/>
                </a:srgbClr>
              </a:gs>
              <a:gs pos="94000">
                <a:srgbClr val="FFFFFF">
                  <a:alpha val="34000"/>
                </a:srgbClr>
              </a:gs>
              <a:gs pos="2655">
                <a:schemeClr val="bg1">
                  <a:alpha val="0"/>
                </a:schemeClr>
              </a:gs>
              <a:gs pos="51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sz="2400" i="1" dirty="0">
                <a:solidFill>
                  <a:srgbClr val="000000"/>
                </a:solidFill>
              </a:rPr>
              <a:t>Submitted in the partial fulfillment for the award of the degree of</a:t>
            </a:r>
          </a:p>
          <a:p>
            <a:pPr algn="ctr">
              <a:lnSpc>
                <a:spcPct val="150000"/>
              </a:lnSpc>
            </a:pPr>
            <a:r>
              <a:rPr lang="en-US" sz="2400" b="1" dirty="0">
                <a:solidFill>
                  <a:srgbClr val="000000"/>
                </a:solidFill>
              </a:rPr>
              <a:t>BACHELOR OF ENGINEERING </a:t>
            </a:r>
            <a:endParaRPr lang="en-US" sz="2400" dirty="0">
              <a:solidFill>
                <a:srgbClr val="00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en-US" sz="2400" i="1" dirty="0">
                <a:solidFill>
                  <a:srgbClr val="000000"/>
                </a:solidFill>
              </a:rPr>
              <a:t> IN</a:t>
            </a:r>
            <a:br>
              <a:rPr lang="en-US" sz="2400" i="1" dirty="0">
                <a:solidFill>
                  <a:srgbClr val="000000"/>
                </a:solidFill>
              </a:rPr>
            </a:br>
            <a:r>
              <a:rPr lang="en-US" sz="2400" b="1" i="1" dirty="0">
                <a:solidFill>
                  <a:srgbClr val="000000"/>
                </a:solidFill>
              </a:rPr>
              <a:t>COMPUTER SCIENCE WITH SPECIALIZATION IN</a:t>
            </a:r>
            <a:br>
              <a:rPr lang="en-US" sz="2400" i="1" dirty="0">
                <a:solidFill>
                  <a:srgbClr val="000000"/>
                </a:solidFill>
              </a:rPr>
            </a:br>
            <a:r>
              <a:rPr lang="en-US" sz="2400" b="1" i="1" dirty="0">
                <a:solidFill>
                  <a:srgbClr val="000000"/>
                </a:solidFill>
              </a:rPr>
              <a:t>BIG DATA ANALYTICS</a:t>
            </a:r>
          </a:p>
        </p:txBody>
      </p:sp>
      <p:sp>
        <p:nvSpPr>
          <p:cNvPr id="43" name="Right Triangle 42"/>
          <p:cNvSpPr/>
          <p:nvPr/>
        </p:nvSpPr>
        <p:spPr>
          <a:xfrm rot="10800000" flipV="1">
            <a:off x="9829797" y="5333999"/>
            <a:ext cx="2366623" cy="1600201"/>
          </a:xfrm>
          <a:prstGeom prst="rtTriangl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/>
          <p:cNvSpPr txBox="1">
            <a:spLocks noChangeArrowheads="1"/>
          </p:cNvSpPr>
          <p:nvPr/>
        </p:nvSpPr>
        <p:spPr bwMode="auto">
          <a:xfrm>
            <a:off x="6881359" y="6019560"/>
            <a:ext cx="4928608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King" pitchFamily="2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King" pitchFamily="2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King" pitchFamily="2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King" pitchFamily="2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King" pitchFamily="2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King" pitchFamily="2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King" pitchFamily="2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King" pitchFamily="2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King" pitchFamily="2" charset="0"/>
              </a:defRPr>
            </a:lvl9pPr>
          </a:lstStyle>
          <a:p>
            <a:pPr lvl="0"/>
            <a:r>
              <a:rPr lang="en-US" sz="2000" b="1" dirty="0">
                <a:solidFill>
                  <a:prstClr val="black">
                    <a:lumMod val="65000"/>
                    <a:lumOff val="35000"/>
                  </a:prstClr>
                </a:solidFill>
                <a:latin typeface="Casper" panose="02000506000000020004" pitchFamily="2" charset="0"/>
                <a:ea typeface="Karla" pitchFamily="2" charset="0"/>
                <a:cs typeface="Karla" pitchFamily="2" charset="0"/>
              </a:rPr>
              <a:t>DISCOVER . </a:t>
            </a:r>
            <a:r>
              <a:rPr lang="en-US" sz="2000" b="1" dirty="0">
                <a:solidFill>
                  <a:srgbClr val="C00000"/>
                </a:solidFill>
                <a:latin typeface="Casper" panose="02000506000000020004" pitchFamily="2" charset="0"/>
                <a:ea typeface="Karla" pitchFamily="2" charset="0"/>
                <a:cs typeface="Karla" pitchFamily="2" charset="0"/>
              </a:rPr>
              <a:t>LEARN</a:t>
            </a:r>
            <a:r>
              <a:rPr lang="en-US" sz="2000" b="1" dirty="0">
                <a:solidFill>
                  <a:prstClr val="black">
                    <a:lumMod val="65000"/>
                    <a:lumOff val="35000"/>
                  </a:prstClr>
                </a:solidFill>
                <a:latin typeface="Casper" panose="02000506000000020004" pitchFamily="2" charset="0"/>
                <a:ea typeface="Karla" pitchFamily="2" charset="0"/>
                <a:cs typeface="Karla" pitchFamily="2" charset="0"/>
              </a:rPr>
              <a:t> . EMPOWER</a:t>
            </a:r>
            <a:endParaRPr lang="en-US" sz="1200" b="1" dirty="0">
              <a:solidFill>
                <a:prstClr val="black"/>
              </a:solidFill>
              <a:latin typeface="Casper" panose="02000506000000020004" pitchFamily="2" charset="0"/>
            </a:endParaRPr>
          </a:p>
          <a:p>
            <a:pPr eaLnBrk="1" hangingPunct="1"/>
            <a:endParaRPr lang="en-US" sz="1600" b="1" dirty="0">
              <a:latin typeface="Casper" panose="02000506000000020004" pitchFamily="2" charset="0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6885780" y="6043646"/>
            <a:ext cx="45719" cy="3706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/>
          <p:cNvSpPr txBox="1">
            <a:spLocks noChangeArrowheads="1"/>
          </p:cNvSpPr>
          <p:nvPr/>
        </p:nvSpPr>
        <p:spPr bwMode="auto">
          <a:xfrm>
            <a:off x="382033" y="6089283"/>
            <a:ext cx="5882609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King" pitchFamily="2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King" pitchFamily="2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King" pitchFamily="2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King" pitchFamily="2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King" pitchFamily="2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King" pitchFamily="2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King" pitchFamily="2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King" pitchFamily="2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King" pitchFamily="2" charset="0"/>
              </a:defRPr>
            </a:lvl9pPr>
          </a:lstStyle>
          <a:p>
            <a:pPr lvl="0" algn="ctr" defTabSz="622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400" b="1" dirty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Department of AIT-CSE</a:t>
            </a:r>
            <a:endParaRPr lang="en-US" sz="1600" dirty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6" name="TextBox 25"/>
          <p:cNvSpPr txBox="1">
            <a:spLocks noChangeArrowheads="1"/>
          </p:cNvSpPr>
          <p:nvPr/>
        </p:nvSpPr>
        <p:spPr bwMode="auto">
          <a:xfrm>
            <a:off x="1874194" y="355255"/>
            <a:ext cx="8477097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King" pitchFamily="2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King" pitchFamily="2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King" pitchFamily="2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King" pitchFamily="2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King" pitchFamily="2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King" pitchFamily="2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King" pitchFamily="2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King" pitchFamily="2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King" pitchFamily="2" charset="0"/>
              </a:defRPr>
            </a:lvl9pPr>
          </a:lstStyle>
          <a:p>
            <a:pPr algn="ctr"/>
            <a:r>
              <a:rPr lang="en-US" sz="3600" b="1" dirty="0">
                <a:latin typeface="Raleway ExtraBold" pitchFamily="34" charset="-52"/>
              </a:rPr>
              <a:t>Online Learning Impact analysis</a:t>
            </a:r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DBBEF-AA6C-4BA6-85B2-A17D7F280E38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697678" y="4249678"/>
            <a:ext cx="360400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Submitted by: </a:t>
            </a:r>
          </a:p>
          <a:p>
            <a:r>
              <a:rPr lang="en-US" sz="2000" dirty="0"/>
              <a:t>RAJ SINGH                22BDA70035</a:t>
            </a:r>
            <a:br>
              <a:rPr lang="en-US" sz="2000" dirty="0"/>
            </a:br>
            <a:r>
              <a:rPr lang="en-US" sz="2000" dirty="0"/>
              <a:t>ANMOL RANA          22BDA70032</a:t>
            </a:r>
            <a:br>
              <a:rPr lang="en-US" sz="2000" dirty="0"/>
            </a:br>
            <a:r>
              <a:rPr lang="en-US" sz="2000" dirty="0"/>
              <a:t>GAUTAM SINGLA     22BDA70030</a:t>
            </a:r>
            <a:br>
              <a:rPr lang="en-US" sz="2000" dirty="0"/>
            </a:br>
            <a:r>
              <a:rPr lang="en-US" sz="2000" dirty="0"/>
              <a:t>SIDHARTH PUNDIR  22BDA70006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1250" y="4725655"/>
            <a:ext cx="297132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Under the Supervision of: </a:t>
            </a:r>
            <a:endParaRPr lang="en-US" sz="2000" dirty="0"/>
          </a:p>
          <a:p>
            <a:r>
              <a:rPr lang="en-US" sz="2000" b="1" dirty="0"/>
              <a:t>DR. AMARDEEP SINGH</a:t>
            </a:r>
          </a:p>
        </p:txBody>
      </p:sp>
    </p:spTree>
    <p:extLst>
      <p:ext uri="{BB962C8B-B14F-4D97-AF65-F5344CB8AC3E}">
        <p14:creationId xmlns:p14="http://schemas.microsoft.com/office/powerpoint/2010/main" val="4565021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5676" y="365126"/>
            <a:ext cx="10515600" cy="976206"/>
          </a:xfrm>
        </p:spPr>
        <p:txBody>
          <a:bodyPr/>
          <a:lstStyle/>
          <a:p>
            <a:r>
              <a:rPr lang="en-IN" b="1" u="sng" dirty="0"/>
              <a:t>Problem Statement &amp; Objectives</a:t>
            </a:r>
            <a:endParaRPr lang="en-US" b="1" u="sng" dirty="0">
              <a:latin typeface="Times New Roman"/>
              <a:cs typeface="Times New Roman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226917"/>
            <a:ext cx="12191999" cy="5631084"/>
          </a:xfrm>
        </p:spPr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DBBEF-AA6C-4BA6-85B2-A17D7F280E38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59FEF3E-A485-A4CC-0F7D-811E3590025D}"/>
              </a:ext>
            </a:extLst>
          </p:cNvPr>
          <p:cNvSpPr/>
          <p:nvPr/>
        </p:nvSpPr>
        <p:spPr>
          <a:xfrm>
            <a:off x="254642" y="1341332"/>
            <a:ext cx="5335929" cy="495344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3C4B70-4237-EC2A-88E5-6EC0C792DD80}"/>
              </a:ext>
            </a:extLst>
          </p:cNvPr>
          <p:cNvSpPr txBox="1"/>
          <p:nvPr/>
        </p:nvSpPr>
        <p:spPr>
          <a:xfrm>
            <a:off x="350134" y="1594643"/>
            <a:ext cx="5240437" cy="3939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/>
              <a:t>Problem Statement</a:t>
            </a:r>
          </a:p>
          <a:p>
            <a:pPr>
              <a:buNone/>
            </a:pPr>
            <a:endParaRPr lang="en-US" sz="1000" b="1" dirty="0"/>
          </a:p>
          <a:p>
            <a:pPr>
              <a:buNone/>
            </a:pPr>
            <a:r>
              <a:rPr lang="en-US" sz="2400" dirty="0"/>
              <a:t>Online learning environments often result in:</a:t>
            </a:r>
          </a:p>
          <a:p>
            <a:pPr marL="531813" indent="-173038">
              <a:buFont typeface="Arial" panose="020B0604020202020204" pitchFamily="34" charset="0"/>
              <a:buChar char="•"/>
            </a:pPr>
            <a:r>
              <a:rPr lang="en-US" sz="2400" dirty="0"/>
              <a:t>Frequent task switching</a:t>
            </a:r>
          </a:p>
          <a:p>
            <a:pPr marL="531813" indent="-173038">
              <a:buFont typeface="Arial" panose="020B0604020202020204" pitchFamily="34" charset="0"/>
              <a:buChar char="•"/>
            </a:pPr>
            <a:r>
              <a:rPr lang="en-US" sz="2400" dirty="0"/>
              <a:t>Short fragmented sessions</a:t>
            </a:r>
          </a:p>
          <a:p>
            <a:pPr marL="531813" indent="-173038">
              <a:buFont typeface="Arial" panose="020B0604020202020204" pitchFamily="34" charset="0"/>
              <a:buChar char="•"/>
            </a:pPr>
            <a:r>
              <a:rPr lang="en-US" sz="2400" dirty="0"/>
              <a:t>Heavy replay dependency</a:t>
            </a:r>
          </a:p>
          <a:p>
            <a:pPr marL="531813" indent="-173038">
              <a:buFont typeface="Arial" panose="020B0604020202020204" pitchFamily="34" charset="0"/>
              <a:buChar char="•"/>
            </a:pPr>
            <a:r>
              <a:rPr lang="en-US" sz="2400" dirty="0"/>
              <a:t>Reduced focus stability</a:t>
            </a:r>
          </a:p>
          <a:p>
            <a:pPr marL="358775"/>
            <a:endParaRPr lang="en-US" sz="2400" dirty="0"/>
          </a:p>
          <a:p>
            <a:pPr>
              <a:buNone/>
            </a:pPr>
            <a:r>
              <a:rPr lang="en-US" sz="2400" dirty="0"/>
              <a:t>There is no standardized behavioral metric to detect at-risk learners early.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B26EA9-886A-1D41-320E-C05A3F59BB1F}"/>
              </a:ext>
            </a:extLst>
          </p:cNvPr>
          <p:cNvSpPr/>
          <p:nvPr/>
        </p:nvSpPr>
        <p:spPr>
          <a:xfrm>
            <a:off x="6460708" y="1321076"/>
            <a:ext cx="5335929" cy="4953441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10DB47-671A-FDBA-F545-14A596658E40}"/>
              </a:ext>
            </a:extLst>
          </p:cNvPr>
          <p:cNvSpPr txBox="1"/>
          <p:nvPr/>
        </p:nvSpPr>
        <p:spPr>
          <a:xfrm>
            <a:off x="6473355" y="1536174"/>
            <a:ext cx="4927921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/>
              <a:t>Objectives</a:t>
            </a:r>
          </a:p>
          <a:p>
            <a:pPr marL="531813" indent="-173038">
              <a:buFont typeface="Arial" panose="020B0604020202020204" pitchFamily="34" charset="0"/>
              <a:buChar char="•"/>
            </a:pPr>
            <a:r>
              <a:rPr lang="en-IN" sz="2400" dirty="0"/>
              <a:t>Develop Learning Fragmentation Index (LFI)</a:t>
            </a:r>
          </a:p>
          <a:p>
            <a:pPr marL="531813" indent="-173038">
              <a:buFont typeface="Arial" panose="020B0604020202020204" pitchFamily="34" charset="0"/>
              <a:buChar char="•"/>
            </a:pPr>
            <a:r>
              <a:rPr lang="en-IN" sz="2400" dirty="0"/>
              <a:t>Develop Replay Dependency Phenomenon (RDP)</a:t>
            </a:r>
          </a:p>
          <a:p>
            <a:pPr marL="531813" indent="-173038">
              <a:buFont typeface="Arial" panose="020B0604020202020204" pitchFamily="34" charset="0"/>
              <a:buChar char="•"/>
            </a:pPr>
            <a:r>
              <a:rPr lang="en-IN" sz="2400" dirty="0" err="1"/>
              <a:t>Analyze</a:t>
            </a:r>
            <a:r>
              <a:rPr lang="en-IN" sz="2400" dirty="0"/>
              <a:t> correlation with learning effectiveness</a:t>
            </a:r>
          </a:p>
          <a:p>
            <a:pPr marL="531813" indent="-173038">
              <a:buFont typeface="Arial" panose="020B0604020202020204" pitchFamily="34" charset="0"/>
              <a:buChar char="•"/>
            </a:pPr>
            <a:r>
              <a:rPr lang="en-IN" sz="2400" dirty="0"/>
              <a:t>Implement risk classification model</a:t>
            </a:r>
          </a:p>
          <a:p>
            <a:pPr marL="531813" indent="-173038">
              <a:buFont typeface="Arial" panose="020B0604020202020204" pitchFamily="34" charset="0"/>
              <a:buChar char="•"/>
            </a:pPr>
            <a:r>
              <a:rPr lang="en-IN" sz="2400" dirty="0"/>
              <a:t>Build interactive Power BI dashboard</a:t>
            </a:r>
          </a:p>
        </p:txBody>
      </p:sp>
    </p:spTree>
    <p:extLst>
      <p:ext uri="{BB962C8B-B14F-4D97-AF65-F5344CB8AC3E}">
        <p14:creationId xmlns:p14="http://schemas.microsoft.com/office/powerpoint/2010/main" val="26059825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FBDF0D10-8698-2F63-420E-72EB014B1E2B}"/>
              </a:ext>
            </a:extLst>
          </p:cNvPr>
          <p:cNvSpPr/>
          <p:nvPr/>
        </p:nvSpPr>
        <p:spPr>
          <a:xfrm>
            <a:off x="1541196" y="4641448"/>
            <a:ext cx="2176252" cy="2004705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27340C4-37F8-0F7D-A3D5-45DF4731C1FA}"/>
              </a:ext>
            </a:extLst>
          </p:cNvPr>
          <p:cNvSpPr/>
          <p:nvPr/>
        </p:nvSpPr>
        <p:spPr>
          <a:xfrm>
            <a:off x="37965" y="1548115"/>
            <a:ext cx="2415868" cy="2194460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AD5C744-7813-200A-2B9F-72CAF5F51950}"/>
              </a:ext>
            </a:extLst>
          </p:cNvPr>
          <p:cNvSpPr/>
          <p:nvPr/>
        </p:nvSpPr>
        <p:spPr>
          <a:xfrm>
            <a:off x="3946141" y="1561940"/>
            <a:ext cx="2514032" cy="2180636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2D954E9-FC48-7FEF-E038-D17261E83B17}"/>
              </a:ext>
            </a:extLst>
          </p:cNvPr>
          <p:cNvSpPr/>
          <p:nvPr/>
        </p:nvSpPr>
        <p:spPr>
          <a:xfrm>
            <a:off x="8621968" y="1641766"/>
            <a:ext cx="3081509" cy="4311172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21660" y="-262828"/>
            <a:ext cx="5948680" cy="1325563"/>
          </a:xfrm>
        </p:spPr>
        <p:txBody>
          <a:bodyPr/>
          <a:lstStyle/>
          <a:p>
            <a:pPr algn="ctr"/>
            <a:r>
              <a:rPr lang="en-IN" b="1" u="sng" dirty="0"/>
              <a:t>Feasibility &amp; Tools</a:t>
            </a:r>
            <a:endParaRPr lang="en-US" b="1" u="sn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153966"/>
            <a:ext cx="12192000" cy="5492187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IN" sz="2400" b="1" dirty="0"/>
              <a:t>Data Collection</a:t>
            </a:r>
            <a:endParaRPr lang="en-US" sz="3200" b="1" u="sn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DBBEF-AA6C-4BA6-85B2-A17D7F280E38}" type="slidenum">
              <a:rPr lang="en-US" smtClean="0"/>
              <a:pPr/>
              <a:t>3</a:t>
            </a:fld>
            <a:endParaRPr lang="en-US"/>
          </a:p>
        </p:txBody>
      </p:sp>
      <p:pic>
        <p:nvPicPr>
          <p:cNvPr id="1026" name="Picture 2" descr="Google Forms Icon SVG Vector &amp; PNG Free Download | UXWing">
            <a:extLst>
              <a:ext uri="{FF2B5EF4-FFF2-40B4-BE49-F238E27FC236}">
                <a16:creationId xmlns:a16="http://schemas.microsoft.com/office/drawing/2014/main" id="{CC99787E-DD99-985E-030B-369336A5F2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2170" y="1561939"/>
            <a:ext cx="1805651" cy="1805651"/>
          </a:xfrm>
          <a:prstGeom prst="rect">
            <a:avLst/>
          </a:prstGeom>
          <a:noFill/>
          <a:ln w="28575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oogle Sheets Logo transparent PNG - StickPNG">
            <a:extLst>
              <a:ext uri="{FF2B5EF4-FFF2-40B4-BE49-F238E27FC236}">
                <a16:creationId xmlns:a16="http://schemas.microsoft.com/office/drawing/2014/main" id="{EC4D522F-F376-039B-F364-5A93F85D14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4371" y="1622814"/>
            <a:ext cx="2158175" cy="1774028"/>
          </a:xfrm>
          <a:prstGeom prst="rect">
            <a:avLst/>
          </a:prstGeom>
          <a:noFill/>
          <a:ln w="28575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4A351501-472B-3BD5-A016-BC55DD8A8E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8951" y="2057898"/>
            <a:ext cx="1283951" cy="12839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Pandas Icon, Logo and PNG Files for Your Projects">
            <a:extLst>
              <a:ext uri="{FF2B5EF4-FFF2-40B4-BE49-F238E27FC236}">
                <a16:creationId xmlns:a16="http://schemas.microsoft.com/office/drawing/2014/main" id="{9F2BC9BB-3E36-AC31-DA68-E7A84252E2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94860" y="4286008"/>
            <a:ext cx="1010587" cy="1010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4" name="Picture 20" descr="GitHub - deena-lad/Numpy-Beginner-to-Advanced: This repository is designed  to help you master NumPy, the fundamental package for scientific computing  with Python. Whether you are just getting started or looking to refine your  skills">
            <a:extLst>
              <a:ext uri="{FF2B5EF4-FFF2-40B4-BE49-F238E27FC236}">
                <a16:creationId xmlns:a16="http://schemas.microsoft.com/office/drawing/2014/main" id="{D1192399-8E87-1C40-8957-39FBACFF2F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6748" r="57584"/>
          <a:stretch>
            <a:fillRect/>
          </a:stretch>
        </p:blipFill>
        <p:spPr bwMode="auto">
          <a:xfrm>
            <a:off x="10256643" y="3829769"/>
            <a:ext cx="1446834" cy="1780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8" name="Picture 24" descr="Power BI Icon SVG Vector &amp; PNG Free Download | UXWing">
            <a:extLst>
              <a:ext uri="{FF2B5EF4-FFF2-40B4-BE49-F238E27FC236}">
                <a16:creationId xmlns:a16="http://schemas.microsoft.com/office/drawing/2014/main" id="{1E69A011-D87F-9C99-3C52-11BA72AF49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9481" y="4710353"/>
            <a:ext cx="1568703" cy="1568703"/>
          </a:xfrm>
          <a:prstGeom prst="rect">
            <a:avLst/>
          </a:prstGeom>
          <a:noFill/>
          <a:ln w="28575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5CACF94-8B57-CB6A-001E-81B887BA3796}"/>
              </a:ext>
            </a:extLst>
          </p:cNvPr>
          <p:cNvSpPr txBox="1"/>
          <p:nvPr/>
        </p:nvSpPr>
        <p:spPr>
          <a:xfrm>
            <a:off x="511738" y="3276415"/>
            <a:ext cx="17052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just">
              <a:buNone/>
            </a:pPr>
            <a:r>
              <a:rPr lang="en-IN" sz="1800" b="1" dirty="0"/>
              <a:t>Google Forms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CC28DA5-0903-7B63-80A5-E7AFAAD3ED39}"/>
              </a:ext>
            </a:extLst>
          </p:cNvPr>
          <p:cNvSpPr txBox="1"/>
          <p:nvPr/>
        </p:nvSpPr>
        <p:spPr>
          <a:xfrm>
            <a:off x="4145666" y="1135014"/>
            <a:ext cx="195033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/>
              <a:t>Data Storage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C18C0FA-075F-D8AC-F747-6CA7098C5B62}"/>
              </a:ext>
            </a:extLst>
          </p:cNvPr>
          <p:cNvSpPr txBox="1"/>
          <p:nvPr/>
        </p:nvSpPr>
        <p:spPr>
          <a:xfrm>
            <a:off x="4426678" y="3228216"/>
            <a:ext cx="18454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Google Sheets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B5F2128-D1A3-EE21-7580-E0F7A93FEA2A}"/>
              </a:ext>
            </a:extLst>
          </p:cNvPr>
          <p:cNvSpPr txBox="1"/>
          <p:nvPr/>
        </p:nvSpPr>
        <p:spPr>
          <a:xfrm>
            <a:off x="7313121" y="1161149"/>
            <a:ext cx="487887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/>
              <a:t>Data Processing &amp; Risk Classification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4141ECD-54B6-85C8-794B-B5DFF9996A3C}"/>
              </a:ext>
            </a:extLst>
          </p:cNvPr>
          <p:cNvSpPr txBox="1"/>
          <p:nvPr/>
        </p:nvSpPr>
        <p:spPr>
          <a:xfrm>
            <a:off x="9669228" y="3412882"/>
            <a:ext cx="11748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Python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52734D5-9D9F-46AC-7D45-58E6B6E05460}"/>
              </a:ext>
            </a:extLst>
          </p:cNvPr>
          <p:cNvSpPr txBox="1"/>
          <p:nvPr/>
        </p:nvSpPr>
        <p:spPr>
          <a:xfrm>
            <a:off x="8794860" y="5368664"/>
            <a:ext cx="11748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Pandas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E9CAA20-5010-EA64-EECE-C1FC17488AA5}"/>
              </a:ext>
            </a:extLst>
          </p:cNvPr>
          <p:cNvSpPr txBox="1"/>
          <p:nvPr/>
        </p:nvSpPr>
        <p:spPr>
          <a:xfrm>
            <a:off x="10528647" y="5425714"/>
            <a:ext cx="11748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NumPy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525D683-9FE7-1BF9-D040-56566EEDFE3A}"/>
              </a:ext>
            </a:extLst>
          </p:cNvPr>
          <p:cNvSpPr txBox="1"/>
          <p:nvPr/>
        </p:nvSpPr>
        <p:spPr>
          <a:xfrm>
            <a:off x="1669481" y="4134167"/>
            <a:ext cx="195033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/>
              <a:t>Visualization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5164732-7CEA-0B21-189A-889997BDD9B4}"/>
              </a:ext>
            </a:extLst>
          </p:cNvPr>
          <p:cNvSpPr txBox="1"/>
          <p:nvPr/>
        </p:nvSpPr>
        <p:spPr>
          <a:xfrm>
            <a:off x="2000286" y="6246557"/>
            <a:ext cx="18454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Power BI</a:t>
            </a:r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D09D9F27-227F-B8DC-5FDE-E03C8C880CAD}"/>
              </a:ext>
            </a:extLst>
          </p:cNvPr>
          <p:cNvSpPr/>
          <p:nvPr/>
        </p:nvSpPr>
        <p:spPr>
          <a:xfrm>
            <a:off x="2812648" y="2349661"/>
            <a:ext cx="807167" cy="318183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9AF981EF-0FAD-A9D8-3662-64DEF19A9B16}"/>
              </a:ext>
            </a:extLst>
          </p:cNvPr>
          <p:cNvSpPr/>
          <p:nvPr/>
        </p:nvSpPr>
        <p:spPr>
          <a:xfrm>
            <a:off x="7022371" y="2349661"/>
            <a:ext cx="807167" cy="318183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CCDFC738-B9E6-C15E-CE90-127685BD78D6}"/>
              </a:ext>
            </a:extLst>
          </p:cNvPr>
          <p:cNvSpPr/>
          <p:nvPr/>
        </p:nvSpPr>
        <p:spPr>
          <a:xfrm rot="10800000">
            <a:off x="5399979" y="5107531"/>
            <a:ext cx="807167" cy="318183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10127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330CB2BC-C99B-62F2-C86C-0F1D9EA39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4297"/>
            <a:ext cx="10515600" cy="907494"/>
          </a:xfrm>
        </p:spPr>
        <p:txBody>
          <a:bodyPr/>
          <a:lstStyle/>
          <a:p>
            <a:pPr algn="ctr"/>
            <a:r>
              <a:rPr lang="en-IN" b="1" u="sng" dirty="0"/>
              <a:t>Budgeting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10CABD-51C2-3502-852D-93FF41B9BA80}"/>
              </a:ext>
            </a:extLst>
          </p:cNvPr>
          <p:cNvSpPr txBox="1"/>
          <p:nvPr/>
        </p:nvSpPr>
        <p:spPr>
          <a:xfrm>
            <a:off x="546755" y="1414021"/>
            <a:ext cx="4053526" cy="480131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1" dirty="0"/>
              <a:t>Feasibility Analysis:</a:t>
            </a:r>
          </a:p>
          <a:p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Technical Feasibility: Uses Python, Power BI, Google Forms </a:t>
            </a:r>
          </a:p>
          <a:p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Operational Feasibility: Easy to use for students and faculty </a:t>
            </a:r>
          </a:p>
          <a:p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Economic Feasibility: Uses mostly free tools</a:t>
            </a:r>
          </a:p>
          <a:p>
            <a:endParaRPr lang="en-IN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5EA4CE4-759C-B4D7-02A0-25560E3C08B2}"/>
              </a:ext>
            </a:extLst>
          </p:cNvPr>
          <p:cNvSpPr txBox="1"/>
          <p:nvPr/>
        </p:nvSpPr>
        <p:spPr>
          <a:xfrm>
            <a:off x="6166700" y="1414021"/>
            <a:ext cx="4297051" cy="156966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1" dirty="0"/>
              <a:t>Budget Estimation:</a:t>
            </a: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Development Cost: Minimal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Operational Cost: Zero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Maintenance Cost: Very Low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A371E8-B114-EA23-01CE-C4C0C73EF952}"/>
              </a:ext>
            </a:extLst>
          </p:cNvPr>
          <p:cNvSpPr txBox="1"/>
          <p:nvPr/>
        </p:nvSpPr>
        <p:spPr>
          <a:xfrm>
            <a:off x="5441624" y="4797648"/>
            <a:ext cx="628532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Conclusion:</a:t>
            </a:r>
            <a:br>
              <a:rPr lang="en-US" sz="2400" dirty="0"/>
            </a:br>
            <a:r>
              <a:rPr lang="en-US" sz="2400" dirty="0"/>
              <a:t>The system is cost-effective and feasible for implementation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40930345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39597-AFB7-EB20-E1C1-FFB66E7807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185" y="157338"/>
            <a:ext cx="4147009" cy="1231190"/>
          </a:xfrm>
        </p:spPr>
        <p:txBody>
          <a:bodyPr>
            <a:normAutofit fontScale="90000"/>
          </a:bodyPr>
          <a:lstStyle/>
          <a:p>
            <a:pPr algn="ctr"/>
            <a:r>
              <a:rPr lang="en-IN" b="1" u="sng" dirty="0"/>
              <a:t>Features of Proposed Solution</a:t>
            </a:r>
            <a:endParaRPr lang="en-IN" u="sn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D16EF4-1527-181E-FD89-080CF2ABA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DBBEF-AA6C-4BA6-85B2-A17D7F280E38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BF1891C0-FB14-267E-A4E7-21F5A9A18AC5}"/>
              </a:ext>
            </a:extLst>
          </p:cNvPr>
          <p:cNvSpPr txBox="1">
            <a:spLocks/>
          </p:cNvSpPr>
          <p:nvPr/>
        </p:nvSpPr>
        <p:spPr>
          <a:xfrm>
            <a:off x="7269805" y="157339"/>
            <a:ext cx="4922195" cy="12311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IN" sz="4000" b="1" u="sng" dirty="0"/>
              <a:t>Identification of Constraints</a:t>
            </a: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129DB9F5-179E-6485-ECEE-50821031A76D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454247" y="1653126"/>
            <a:ext cx="5525021" cy="4832092"/>
          </a:xfrm>
          <a:prstGeom prst="rect">
            <a:avLst/>
          </a:prstGeom>
          <a:noFill/>
          <a:ln w="2857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Behavioral indices: Learning Fragmentation Index (LFI) 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Replay Dependency Phenomenon (RDP)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Risk Classification Model (Low, Moderate, High)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2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Interactive Power BI Dashboard 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Early Warning System for identifying at-risk students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Real-time data processing capability 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C76DDB8C-E8BC-B697-C31C-585258F72100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7888462" y="1543714"/>
            <a:ext cx="3455610" cy="4832092"/>
          </a:xfrm>
          <a:prstGeom prst="rect">
            <a:avLst/>
          </a:prstGeom>
          <a:noFill/>
          <a:ln w="2857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/>
              <a:t>Limited dataset (80 students) </a:t>
            </a:r>
          </a:p>
          <a:p>
            <a:endParaRPr lang="en-US" sz="2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/>
              <a:t>Self-reported data may introduce bias </a:t>
            </a:r>
          </a:p>
          <a:p>
            <a:endParaRPr lang="en-US" sz="2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/>
              <a:t>No real-time LMS integration </a:t>
            </a:r>
          </a:p>
          <a:p>
            <a:endParaRPr lang="en-US" sz="2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/>
              <a:t>Limited project time duration </a:t>
            </a:r>
          </a:p>
          <a:p>
            <a:endParaRPr lang="en-US" sz="2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/>
              <a:t>Basic statistical analysis (no ML models) </a:t>
            </a:r>
          </a:p>
        </p:txBody>
      </p:sp>
    </p:spTree>
    <p:extLst>
      <p:ext uri="{BB962C8B-B14F-4D97-AF65-F5344CB8AC3E}">
        <p14:creationId xmlns:p14="http://schemas.microsoft.com/office/powerpoint/2010/main" val="34334156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4CC18E1-8AB4-88AE-3BB4-6D6CFDC517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55567"/>
            <a:ext cx="5930245" cy="1030635"/>
          </a:xfrm>
        </p:spPr>
        <p:txBody>
          <a:bodyPr>
            <a:normAutofit fontScale="90000"/>
          </a:bodyPr>
          <a:lstStyle/>
          <a:p>
            <a:pPr algn="ctr"/>
            <a:r>
              <a:rPr lang="en-IN" b="1" u="sng" dirty="0"/>
              <a:t>Feature Analysis and Finalization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226C5B-A795-B9A3-07DB-8D9D86F95FDE}"/>
              </a:ext>
            </a:extLst>
          </p:cNvPr>
          <p:cNvSpPr txBox="1"/>
          <p:nvPr/>
        </p:nvSpPr>
        <p:spPr>
          <a:xfrm>
            <a:off x="633952" y="1295786"/>
            <a:ext cx="3711803" cy="144655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200" b="1" dirty="0"/>
              <a:t>Selected Features:</a:t>
            </a:r>
            <a:endParaRPr lang="en-US" sz="22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200" dirty="0"/>
              <a:t>LFI and RDP computation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200" dirty="0"/>
              <a:t>Risk classification model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200" dirty="0"/>
              <a:t>Dashboard visualization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84CFA3-6FC6-B57C-3539-D254B27F9190}"/>
              </a:ext>
            </a:extLst>
          </p:cNvPr>
          <p:cNvSpPr txBox="1"/>
          <p:nvPr/>
        </p:nvSpPr>
        <p:spPr>
          <a:xfrm>
            <a:off x="633952" y="2961503"/>
            <a:ext cx="3711803" cy="230832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2400" b="1" dirty="0"/>
              <a:t>Excluded Features:</a:t>
            </a: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Machine Learning models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Real-time LMS integration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Custom web application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AA346CB-54FD-BDF3-AEA6-099FDBABD772}"/>
              </a:ext>
            </a:extLst>
          </p:cNvPr>
          <p:cNvSpPr txBox="1"/>
          <p:nvPr/>
        </p:nvSpPr>
        <p:spPr>
          <a:xfrm>
            <a:off x="633952" y="5488994"/>
            <a:ext cx="495614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Reason:</a:t>
            </a:r>
            <a:br>
              <a:rPr lang="en-US" sz="2400" dirty="0"/>
            </a:br>
            <a:r>
              <a:rPr lang="en-US" sz="2400" dirty="0"/>
              <a:t>Selected features are simple, reliable, and feasible within constraints</a:t>
            </a:r>
            <a:endParaRPr lang="en-IN" sz="2400" dirty="0"/>
          </a:p>
        </p:txBody>
      </p:sp>
      <p:sp>
        <p:nvSpPr>
          <p:cNvPr id="17" name="Title 4">
            <a:extLst>
              <a:ext uri="{FF2B5EF4-FFF2-40B4-BE49-F238E27FC236}">
                <a16:creationId xmlns:a16="http://schemas.microsoft.com/office/drawing/2014/main" id="{3707636E-2F48-5E8D-093A-771F91B6B1FC}"/>
              </a:ext>
            </a:extLst>
          </p:cNvPr>
          <p:cNvSpPr txBox="1">
            <a:spLocks/>
          </p:cNvSpPr>
          <p:nvPr/>
        </p:nvSpPr>
        <p:spPr>
          <a:xfrm>
            <a:off x="6261757" y="41656"/>
            <a:ext cx="5143893" cy="1258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IN" b="1" u="sng" dirty="0"/>
              <a:t>Identification of Standards</a:t>
            </a:r>
          </a:p>
        </p:txBody>
      </p:sp>
      <p:sp>
        <p:nvSpPr>
          <p:cNvPr id="20" name="Rectangle 2">
            <a:extLst>
              <a:ext uri="{FF2B5EF4-FFF2-40B4-BE49-F238E27FC236}">
                <a16:creationId xmlns:a16="http://schemas.microsoft.com/office/drawing/2014/main" id="{BADE32B3-2D79-7AE8-9E73-7C1D0B0F0CA6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6387448" y="1672565"/>
            <a:ext cx="5489542" cy="3816429"/>
          </a:xfrm>
          <a:prstGeom prst="rect">
            <a:avLst/>
          </a:prstGeom>
          <a:noFill/>
          <a:ln w="2857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 Standards: CSV format, normalization techniques 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22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Analytical Standards: Pearson correlation, threshold model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2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Software Standards: Python, Power BI best practices 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2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Ethical Standards: Anonymous data, voluntary participation </a:t>
            </a:r>
          </a:p>
        </p:txBody>
      </p:sp>
    </p:spTree>
    <p:extLst>
      <p:ext uri="{BB962C8B-B14F-4D97-AF65-F5344CB8AC3E}">
        <p14:creationId xmlns:p14="http://schemas.microsoft.com/office/powerpoint/2010/main" val="4749653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F040A7-B947-66EC-920B-89AACD3F32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28384"/>
          </a:xfrm>
        </p:spPr>
        <p:txBody>
          <a:bodyPr/>
          <a:lstStyle/>
          <a:p>
            <a:pPr algn="ctr"/>
            <a:r>
              <a:rPr lang="en-IN" b="1" u="sng" dirty="0"/>
              <a:t>Design Selection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A37FB3-627E-07D0-7AC3-53AE6E16D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DBBEF-AA6C-4BA6-85B2-A17D7F280E38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6036A6-D902-BF0D-F66F-89871BCAB45B}"/>
              </a:ext>
            </a:extLst>
          </p:cNvPr>
          <p:cNvSpPr txBox="1"/>
          <p:nvPr/>
        </p:nvSpPr>
        <p:spPr>
          <a:xfrm>
            <a:off x="180680" y="1316641"/>
            <a:ext cx="11830639" cy="1138773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200" b="1" dirty="0"/>
              <a:t>Modular pipeline architecture:</a:t>
            </a:r>
          </a:p>
          <a:p>
            <a:pPr algn="ctr"/>
            <a:endParaRPr lang="en-US" sz="2200" dirty="0"/>
          </a:p>
          <a:p>
            <a:pPr algn="ctr"/>
            <a:r>
              <a:rPr lang="en-US" sz="2400" dirty="0"/>
              <a:t>Data Collection → Processing → Analysis → Visualization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A58404-3E2C-B09F-15A2-BDFD934F9B18}"/>
              </a:ext>
            </a:extLst>
          </p:cNvPr>
          <p:cNvSpPr txBox="1"/>
          <p:nvPr/>
        </p:nvSpPr>
        <p:spPr>
          <a:xfrm>
            <a:off x="94268" y="3184249"/>
            <a:ext cx="3928621" cy="144655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200" b="1" dirty="0"/>
              <a:t>Design Justification:</a:t>
            </a:r>
            <a:endParaRPr lang="en-US" sz="22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200" dirty="0"/>
              <a:t>Simple and easy to implement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200" dirty="0"/>
              <a:t>Cost-effective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200" dirty="0"/>
              <a:t>Scalable for future expansion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5D6CDB-1993-ED04-116A-9E975B583CCA}"/>
              </a:ext>
            </a:extLst>
          </p:cNvPr>
          <p:cNvSpPr txBox="1"/>
          <p:nvPr/>
        </p:nvSpPr>
        <p:spPr>
          <a:xfrm>
            <a:off x="94268" y="5092362"/>
            <a:ext cx="4956142" cy="144655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200" b="1" dirty="0"/>
              <a:t>Alternative Designs Rejected:</a:t>
            </a:r>
            <a:endParaRPr lang="en-US" sz="22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200" dirty="0"/>
              <a:t>ML-based systems (require large data)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200" dirty="0"/>
              <a:t>Web-based systems (complex development) </a:t>
            </a:r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7F532279-8114-6783-72D1-9AF7935525F6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6407870" y="2713456"/>
            <a:ext cx="4405460" cy="2585323"/>
          </a:xfrm>
          <a:prstGeom prst="rect">
            <a:avLst/>
          </a:prstGeom>
          <a:noFill/>
          <a:ln w="2857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sng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OUTCOMES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System is technically and economically feasible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Design is scalable and efficient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Provides structured approach for implementation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Ready for deployment in academic environments </a:t>
            </a:r>
          </a:p>
        </p:txBody>
      </p:sp>
    </p:spTree>
    <p:extLst>
      <p:ext uri="{BB962C8B-B14F-4D97-AF65-F5344CB8AC3E}">
        <p14:creationId xmlns:p14="http://schemas.microsoft.com/office/powerpoint/2010/main" val="33377572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A5ED1-B2D9-6B9C-2EBB-0B3AD21AE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1820" y="-252413"/>
            <a:ext cx="10515600" cy="1325563"/>
          </a:xfrm>
        </p:spPr>
        <p:txBody>
          <a:bodyPr/>
          <a:lstStyle/>
          <a:p>
            <a:pPr algn="ctr"/>
            <a:r>
              <a:rPr lang="en-IN" b="1" u="sng" dirty="0"/>
              <a:t>Results &amp; Conclusion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A6E252-6E8B-6435-DB2F-8CF2928F2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DBBEF-AA6C-4BA6-85B2-A17D7F280E38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6956EC-E934-6AC6-B2BB-8152CE94A531}"/>
              </a:ext>
            </a:extLst>
          </p:cNvPr>
          <p:cNvSpPr txBox="1"/>
          <p:nvPr/>
        </p:nvSpPr>
        <p:spPr>
          <a:xfrm>
            <a:off x="456235" y="1346172"/>
            <a:ext cx="5412130" cy="3970318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800" b="1" dirty="0"/>
              <a:t>Results Achieved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Developed measurable behavioral indices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Implemented dual-threshold classification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Validated correlation with effectiveness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Created fully functional interactive dashboard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AFB581-364E-B31A-3C19-32D986C9EF20}"/>
              </a:ext>
            </a:extLst>
          </p:cNvPr>
          <p:cNvSpPr txBox="1"/>
          <p:nvPr/>
        </p:nvSpPr>
        <p:spPr>
          <a:xfrm>
            <a:off x="6546447" y="1346172"/>
            <a:ext cx="5412130" cy="3970318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2800" b="1" dirty="0"/>
              <a:t>Conclusion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Fragmentation negatively impacts learning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Replay dependency reflects cognitive difficulty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Dual-index model improves risk detection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System can serve as institutional early-warning framework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FD7A7E-2B36-6707-9D9C-3B91AA2B8EA6}"/>
              </a:ext>
            </a:extLst>
          </p:cNvPr>
          <p:cNvSpPr txBox="1"/>
          <p:nvPr/>
        </p:nvSpPr>
        <p:spPr>
          <a:xfrm>
            <a:off x="5165204" y="5771575"/>
            <a:ext cx="609407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200" b="1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720656912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Contents Slide Master">
  <a:themeElements>
    <a:clrScheme name="ALLPPT-COLOR-A33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EF4A4A"/>
      </a:accent1>
      <a:accent2>
        <a:srgbClr val="262626"/>
      </a:accent2>
      <a:accent3>
        <a:srgbClr val="EF4A4A"/>
      </a:accent3>
      <a:accent4>
        <a:srgbClr val="262626"/>
      </a:accent4>
      <a:accent5>
        <a:srgbClr val="EF4A4A"/>
      </a:accent5>
      <a:accent6>
        <a:srgbClr val="262626"/>
      </a:accent6>
      <a:hlink>
        <a:srgbClr val="0000FF"/>
      </a:hlink>
      <a:folHlink>
        <a:srgbClr val="800080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smaple</Template>
  <TotalTime>6363</TotalTime>
  <Words>484</Words>
  <Application>Microsoft Office PowerPoint</Application>
  <PresentationFormat>Widescreen</PresentationFormat>
  <Paragraphs>124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8</vt:i4>
      </vt:variant>
    </vt:vector>
  </HeadingPairs>
  <TitlesOfParts>
    <vt:vector size="17" baseType="lpstr">
      <vt:lpstr>Arial</vt:lpstr>
      <vt:lpstr>Calibri</vt:lpstr>
      <vt:lpstr>Calibri Light</vt:lpstr>
      <vt:lpstr>Casper</vt:lpstr>
      <vt:lpstr>Raleway ExtraBold</vt:lpstr>
      <vt:lpstr>Times New Roman</vt:lpstr>
      <vt:lpstr>1_Office Theme</vt:lpstr>
      <vt:lpstr>2_Office Theme</vt:lpstr>
      <vt:lpstr>Contents Slide Master</vt:lpstr>
      <vt:lpstr>PowerPoint Presentation</vt:lpstr>
      <vt:lpstr>Problem Statement &amp; Objectives</vt:lpstr>
      <vt:lpstr>Feasibility &amp; Tools</vt:lpstr>
      <vt:lpstr>Budgeting</vt:lpstr>
      <vt:lpstr>Features of Proposed Solution</vt:lpstr>
      <vt:lpstr>Feature Analysis and Finalization</vt:lpstr>
      <vt:lpstr>Design Selection</vt:lpstr>
      <vt:lpstr>Results &amp; 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Branding</dc:creator>
  <cp:lastModifiedBy>RAJ SINGH</cp:lastModifiedBy>
  <cp:revision>500</cp:revision>
  <dcterms:created xsi:type="dcterms:W3CDTF">2019-01-09T10:33:58Z</dcterms:created>
  <dcterms:modified xsi:type="dcterms:W3CDTF">2026-03-23T08:39:14Z</dcterms:modified>
</cp:coreProperties>
</file>