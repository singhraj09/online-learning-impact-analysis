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702" r:id="rId2"/>
    <p:sldMasterId id="2147483686" r:id="rId3"/>
  </p:sldMasterIdLst>
  <p:notesMasterIdLst>
    <p:notesMasterId r:id="rId13"/>
  </p:notesMasterIdLst>
  <p:handoutMasterIdLst>
    <p:handoutMasterId r:id="rId14"/>
  </p:handoutMasterIdLst>
  <p:sldIdLst>
    <p:sldId id="277" r:id="rId4"/>
    <p:sldId id="399" r:id="rId5"/>
    <p:sldId id="400" r:id="rId6"/>
    <p:sldId id="401" r:id="rId7"/>
    <p:sldId id="406" r:id="rId8"/>
    <p:sldId id="402" r:id="rId9"/>
    <p:sldId id="408" r:id="rId10"/>
    <p:sldId id="407" r:id="rId11"/>
    <p:sldId id="40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6060"/>
    <a:srgbClr val="F64040"/>
    <a:srgbClr val="B92323"/>
    <a:srgbClr val="C1231A"/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153" autoAdjust="0"/>
    <p:restoredTop sz="94660" autoAdjust="0"/>
  </p:normalViewPr>
  <p:slideViewPr>
    <p:cSldViewPr snapToGrid="0">
      <p:cViewPr varScale="1">
        <p:scale>
          <a:sx n="81" d="100"/>
          <a:sy n="81" d="100"/>
        </p:scale>
        <p:origin x="350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-3168" y="-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hf hdr="0" ftr="0" dt="0"/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7.jpeg"/><Relationship Id="rId7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6053794"/>
            <a:ext cx="12196420" cy="4391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698031" y="1001586"/>
            <a:ext cx="6829425" cy="319718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</a:rPr>
              <a:t>Submitted in the partial fulfillment for the award of the degree of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000000"/>
                </a:solidFill>
              </a:rPr>
              <a:t>BACHELOR OF ENGINEERING </a:t>
            </a:r>
            <a:endParaRPr lang="en-US" sz="2400" dirty="0">
              <a:solidFill>
                <a:srgbClr val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</a:rPr>
              <a:t> IN</a:t>
            </a:r>
            <a:br>
              <a:rPr lang="en-US" sz="2400" i="1" dirty="0">
                <a:solidFill>
                  <a:srgbClr val="000000"/>
                </a:solidFill>
              </a:rPr>
            </a:br>
            <a:r>
              <a:rPr lang="en-US" sz="2400" b="1" i="1" dirty="0">
                <a:solidFill>
                  <a:srgbClr val="000000"/>
                </a:solidFill>
              </a:rPr>
              <a:t>COMPUTER SCIENCE WITH SPECIALIZATION IN</a:t>
            </a:r>
            <a:br>
              <a:rPr lang="en-US" sz="2400" i="1" dirty="0">
                <a:solidFill>
                  <a:srgbClr val="000000"/>
                </a:solidFill>
              </a:rPr>
            </a:br>
            <a:r>
              <a:rPr lang="en-US" sz="2400" b="1" i="1" dirty="0">
                <a:solidFill>
                  <a:srgbClr val="000000"/>
                </a:solidFill>
              </a:rPr>
              <a:t>BIG DATA ANALYTICS</a:t>
            </a:r>
          </a:p>
        </p:txBody>
      </p:sp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382033" y="6089283"/>
            <a:ext cx="588260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Department of AIT-CSE</a:t>
            </a:r>
            <a:endParaRPr lang="en-US" sz="1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874194" y="355255"/>
            <a:ext cx="847709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3600" b="1" dirty="0">
                <a:latin typeface="Raleway ExtraBold" pitchFamily="34" charset="-52"/>
              </a:rPr>
              <a:t>Online Learning Impact analysis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697678" y="4249678"/>
            <a:ext cx="3604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Submitted by: </a:t>
            </a:r>
          </a:p>
          <a:p>
            <a:r>
              <a:rPr lang="en-US" sz="2000" dirty="0"/>
              <a:t>RAJ SINGH                22BDA70035</a:t>
            </a:r>
            <a:br>
              <a:rPr lang="en-US" sz="2000" dirty="0"/>
            </a:br>
            <a:r>
              <a:rPr lang="en-US" sz="2000" dirty="0"/>
              <a:t>ANMOL RANA          22BDA70032</a:t>
            </a:r>
            <a:br>
              <a:rPr lang="en-US" sz="2000" dirty="0"/>
            </a:br>
            <a:r>
              <a:rPr lang="en-US" sz="2000" dirty="0"/>
              <a:t>GAUTAM SINGLA     22BDA70030</a:t>
            </a:r>
            <a:br>
              <a:rPr lang="en-US" sz="2000" dirty="0"/>
            </a:br>
            <a:r>
              <a:rPr lang="en-US" sz="2000" dirty="0"/>
              <a:t>SIDHARTH PUNDIR  22BDA70006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1250" y="4725655"/>
            <a:ext cx="297132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Under the Supervision of: </a:t>
            </a:r>
            <a:endParaRPr lang="en-US" sz="2000" dirty="0"/>
          </a:p>
          <a:p>
            <a:r>
              <a:rPr lang="en-US" sz="2000" b="1" dirty="0"/>
              <a:t>DR. AMARDEEP SINGH</a:t>
            </a:r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676" y="365126"/>
            <a:ext cx="10515600" cy="976206"/>
          </a:xfrm>
        </p:spPr>
        <p:txBody>
          <a:bodyPr/>
          <a:lstStyle/>
          <a:p>
            <a:r>
              <a:rPr lang="en-IN" b="1" u="sng" dirty="0"/>
              <a:t>Problem Statement &amp; Objectives</a:t>
            </a:r>
            <a:endParaRPr lang="en-US" b="1" u="sng" dirty="0">
              <a:latin typeface="Times New Roman"/>
              <a:cs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26917"/>
            <a:ext cx="12191999" cy="5631084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9FEF3E-A485-A4CC-0F7D-811E3590025D}"/>
              </a:ext>
            </a:extLst>
          </p:cNvPr>
          <p:cNvSpPr/>
          <p:nvPr/>
        </p:nvSpPr>
        <p:spPr>
          <a:xfrm>
            <a:off x="254642" y="1341332"/>
            <a:ext cx="5335929" cy="49534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3C4B70-4237-EC2A-88E5-6EC0C792DD80}"/>
              </a:ext>
            </a:extLst>
          </p:cNvPr>
          <p:cNvSpPr txBox="1"/>
          <p:nvPr/>
        </p:nvSpPr>
        <p:spPr>
          <a:xfrm>
            <a:off x="350134" y="1594643"/>
            <a:ext cx="5240437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Problem Statement</a:t>
            </a:r>
          </a:p>
          <a:p>
            <a:pPr>
              <a:buNone/>
            </a:pPr>
            <a:endParaRPr lang="en-US" sz="1000" b="1" dirty="0"/>
          </a:p>
          <a:p>
            <a:pPr>
              <a:buNone/>
            </a:pPr>
            <a:r>
              <a:rPr lang="en-US" sz="2400" dirty="0"/>
              <a:t>Online learning environments often result in:</a:t>
            </a:r>
          </a:p>
          <a:p>
            <a:pPr marL="531813" indent="-173038">
              <a:buFont typeface="Arial" panose="020B0604020202020204" pitchFamily="34" charset="0"/>
              <a:buChar char="•"/>
            </a:pPr>
            <a:r>
              <a:rPr lang="en-US" sz="2400" dirty="0"/>
              <a:t>Frequent task switching</a:t>
            </a:r>
          </a:p>
          <a:p>
            <a:pPr marL="531813" indent="-173038">
              <a:buFont typeface="Arial" panose="020B0604020202020204" pitchFamily="34" charset="0"/>
              <a:buChar char="•"/>
            </a:pPr>
            <a:r>
              <a:rPr lang="en-US" sz="2400" dirty="0"/>
              <a:t>Short fragmented sessions</a:t>
            </a:r>
          </a:p>
          <a:p>
            <a:pPr marL="531813" indent="-173038">
              <a:buFont typeface="Arial" panose="020B0604020202020204" pitchFamily="34" charset="0"/>
              <a:buChar char="•"/>
            </a:pPr>
            <a:r>
              <a:rPr lang="en-US" sz="2400" dirty="0"/>
              <a:t>Heavy replay dependency</a:t>
            </a:r>
          </a:p>
          <a:p>
            <a:pPr marL="531813" indent="-173038">
              <a:buFont typeface="Arial" panose="020B0604020202020204" pitchFamily="34" charset="0"/>
              <a:buChar char="•"/>
            </a:pPr>
            <a:r>
              <a:rPr lang="en-US" sz="2400" dirty="0"/>
              <a:t>Reduced focus stability</a:t>
            </a:r>
          </a:p>
          <a:p>
            <a:pPr marL="358775"/>
            <a:endParaRPr lang="en-US" sz="2400" dirty="0"/>
          </a:p>
          <a:p>
            <a:pPr>
              <a:buNone/>
            </a:pPr>
            <a:r>
              <a:rPr lang="en-US" sz="2400" dirty="0"/>
              <a:t>There is no standardized behavioral metric to detect at-risk learners early.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B26EA9-886A-1D41-320E-C05A3F59BB1F}"/>
              </a:ext>
            </a:extLst>
          </p:cNvPr>
          <p:cNvSpPr/>
          <p:nvPr/>
        </p:nvSpPr>
        <p:spPr>
          <a:xfrm>
            <a:off x="6460708" y="1321076"/>
            <a:ext cx="5335929" cy="4953441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10DB47-671A-FDBA-F545-14A596658E40}"/>
              </a:ext>
            </a:extLst>
          </p:cNvPr>
          <p:cNvSpPr txBox="1"/>
          <p:nvPr/>
        </p:nvSpPr>
        <p:spPr>
          <a:xfrm>
            <a:off x="6473355" y="1536174"/>
            <a:ext cx="492792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Objectives</a:t>
            </a:r>
          </a:p>
          <a:p>
            <a:pPr marL="531813" indent="-173038">
              <a:buFont typeface="Arial" panose="020B0604020202020204" pitchFamily="34" charset="0"/>
              <a:buChar char="•"/>
            </a:pPr>
            <a:r>
              <a:rPr lang="en-IN" sz="2400" dirty="0"/>
              <a:t>Develop Learning Fragmentation Index (LFI)</a:t>
            </a:r>
          </a:p>
          <a:p>
            <a:pPr marL="531813" indent="-173038">
              <a:buFont typeface="Arial" panose="020B0604020202020204" pitchFamily="34" charset="0"/>
              <a:buChar char="•"/>
            </a:pPr>
            <a:r>
              <a:rPr lang="en-IN" sz="2400" dirty="0"/>
              <a:t>Develop Replay Dependency Phenomenon (RDP)</a:t>
            </a:r>
          </a:p>
          <a:p>
            <a:pPr marL="531813" indent="-173038">
              <a:buFont typeface="Arial" panose="020B0604020202020204" pitchFamily="34" charset="0"/>
              <a:buChar char="•"/>
            </a:pPr>
            <a:r>
              <a:rPr lang="en-IN" sz="2400" dirty="0" err="1"/>
              <a:t>Analyze</a:t>
            </a:r>
            <a:r>
              <a:rPr lang="en-IN" sz="2400" dirty="0"/>
              <a:t> correlation with learning effectiveness</a:t>
            </a:r>
          </a:p>
          <a:p>
            <a:pPr marL="531813" indent="-173038">
              <a:buFont typeface="Arial" panose="020B0604020202020204" pitchFamily="34" charset="0"/>
              <a:buChar char="•"/>
            </a:pPr>
            <a:r>
              <a:rPr lang="en-IN" sz="2400" dirty="0"/>
              <a:t>Implement risk classification model</a:t>
            </a:r>
          </a:p>
          <a:p>
            <a:pPr marL="531813" indent="-173038">
              <a:buFont typeface="Arial" panose="020B0604020202020204" pitchFamily="34" charset="0"/>
              <a:buChar char="•"/>
            </a:pPr>
            <a:r>
              <a:rPr lang="en-IN" sz="2400" dirty="0"/>
              <a:t>Build interactive Power BI dashboard</a:t>
            </a:r>
          </a:p>
        </p:txBody>
      </p:sp>
    </p:spTree>
    <p:extLst>
      <p:ext uri="{BB962C8B-B14F-4D97-AF65-F5344CB8AC3E}">
        <p14:creationId xmlns:p14="http://schemas.microsoft.com/office/powerpoint/2010/main" val="2605982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FBDF0D10-8698-2F63-420E-72EB014B1E2B}"/>
              </a:ext>
            </a:extLst>
          </p:cNvPr>
          <p:cNvSpPr/>
          <p:nvPr/>
        </p:nvSpPr>
        <p:spPr>
          <a:xfrm>
            <a:off x="1541196" y="4641448"/>
            <a:ext cx="2176252" cy="2004705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7340C4-37F8-0F7D-A3D5-45DF4731C1FA}"/>
              </a:ext>
            </a:extLst>
          </p:cNvPr>
          <p:cNvSpPr/>
          <p:nvPr/>
        </p:nvSpPr>
        <p:spPr>
          <a:xfrm>
            <a:off x="37965" y="1548115"/>
            <a:ext cx="2415868" cy="2194460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AD5C744-7813-200A-2B9F-72CAF5F51950}"/>
              </a:ext>
            </a:extLst>
          </p:cNvPr>
          <p:cNvSpPr/>
          <p:nvPr/>
        </p:nvSpPr>
        <p:spPr>
          <a:xfrm>
            <a:off x="3946141" y="1561940"/>
            <a:ext cx="2514032" cy="2180636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D954E9-FC48-7FEF-E038-D17261E83B17}"/>
              </a:ext>
            </a:extLst>
          </p:cNvPr>
          <p:cNvSpPr/>
          <p:nvPr/>
        </p:nvSpPr>
        <p:spPr>
          <a:xfrm>
            <a:off x="8621968" y="1641766"/>
            <a:ext cx="3081509" cy="4311172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21660" y="-262828"/>
            <a:ext cx="5948680" cy="1325563"/>
          </a:xfrm>
        </p:spPr>
        <p:txBody>
          <a:bodyPr/>
          <a:lstStyle/>
          <a:p>
            <a:pPr algn="ctr"/>
            <a:r>
              <a:rPr lang="en-IN" b="1" u="sng" dirty="0"/>
              <a:t>Feasibility &amp; Tools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53966"/>
            <a:ext cx="12192000" cy="549218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400" b="1" dirty="0"/>
              <a:t>Data Collection</a:t>
            </a:r>
            <a:endParaRPr lang="en-US" sz="3200" b="1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026" name="Picture 2" descr="Google Forms Icon SVG Vector &amp; PNG Free Download | UXWing">
            <a:extLst>
              <a:ext uri="{FF2B5EF4-FFF2-40B4-BE49-F238E27FC236}">
                <a16:creationId xmlns:a16="http://schemas.microsoft.com/office/drawing/2014/main" id="{CC99787E-DD99-985E-030B-369336A5F2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170" y="1561939"/>
            <a:ext cx="1805651" cy="1805651"/>
          </a:xfrm>
          <a:prstGeom prst="rect">
            <a:avLst/>
          </a:prstGeom>
          <a:noFill/>
          <a:ln w="2857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oogle Sheets Logo transparent PNG - StickPNG">
            <a:extLst>
              <a:ext uri="{FF2B5EF4-FFF2-40B4-BE49-F238E27FC236}">
                <a16:creationId xmlns:a16="http://schemas.microsoft.com/office/drawing/2014/main" id="{EC4D522F-F376-039B-F364-5A93F85D1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4371" y="1622814"/>
            <a:ext cx="2158175" cy="1774028"/>
          </a:xfrm>
          <a:prstGeom prst="rect">
            <a:avLst/>
          </a:prstGeom>
          <a:noFill/>
          <a:ln w="2857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4A351501-472B-3BD5-A016-BC55DD8A8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8951" y="2057898"/>
            <a:ext cx="1283951" cy="1283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Pandas Icon, Logo and PNG Files for Your Projects">
            <a:extLst>
              <a:ext uri="{FF2B5EF4-FFF2-40B4-BE49-F238E27FC236}">
                <a16:creationId xmlns:a16="http://schemas.microsoft.com/office/drawing/2014/main" id="{9F2BC9BB-3E36-AC31-DA68-E7A84252E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4860" y="4286008"/>
            <a:ext cx="1010587" cy="1010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GitHub - deena-lad/Numpy-Beginner-to-Advanced: This repository is designed  to help you master NumPy, the fundamental package for scientific computing  with Python. Whether you are just getting started or looking to refine your  skills">
            <a:extLst>
              <a:ext uri="{FF2B5EF4-FFF2-40B4-BE49-F238E27FC236}">
                <a16:creationId xmlns:a16="http://schemas.microsoft.com/office/drawing/2014/main" id="{D1192399-8E87-1C40-8957-39FBACFF2F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748" r="57584"/>
          <a:stretch>
            <a:fillRect/>
          </a:stretch>
        </p:blipFill>
        <p:spPr bwMode="auto">
          <a:xfrm>
            <a:off x="10256643" y="3829769"/>
            <a:ext cx="1446834" cy="1780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Power BI Icon SVG Vector &amp; PNG Free Download | UXWing">
            <a:extLst>
              <a:ext uri="{FF2B5EF4-FFF2-40B4-BE49-F238E27FC236}">
                <a16:creationId xmlns:a16="http://schemas.microsoft.com/office/drawing/2014/main" id="{1E69A011-D87F-9C99-3C52-11BA72AF49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9481" y="4710353"/>
            <a:ext cx="1568703" cy="1568703"/>
          </a:xfrm>
          <a:prstGeom prst="rect">
            <a:avLst/>
          </a:prstGeom>
          <a:noFill/>
          <a:ln w="2857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5CACF94-8B57-CB6A-001E-81B887BA3796}"/>
              </a:ext>
            </a:extLst>
          </p:cNvPr>
          <p:cNvSpPr txBox="1"/>
          <p:nvPr/>
        </p:nvSpPr>
        <p:spPr>
          <a:xfrm>
            <a:off x="511738" y="3276415"/>
            <a:ext cx="17052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IN" sz="1800" b="1" dirty="0"/>
              <a:t>Google Forms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C28DA5-0903-7B63-80A5-E7AFAAD3ED39}"/>
              </a:ext>
            </a:extLst>
          </p:cNvPr>
          <p:cNvSpPr txBox="1"/>
          <p:nvPr/>
        </p:nvSpPr>
        <p:spPr>
          <a:xfrm>
            <a:off x="4145666" y="1135014"/>
            <a:ext cx="19503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Data Storage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18C0FA-075F-D8AC-F747-6CA7098C5B62}"/>
              </a:ext>
            </a:extLst>
          </p:cNvPr>
          <p:cNvSpPr txBox="1"/>
          <p:nvPr/>
        </p:nvSpPr>
        <p:spPr>
          <a:xfrm>
            <a:off x="4426678" y="3228216"/>
            <a:ext cx="18454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Google Sheets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5F2128-D1A3-EE21-7580-E0F7A93FEA2A}"/>
              </a:ext>
            </a:extLst>
          </p:cNvPr>
          <p:cNvSpPr txBox="1"/>
          <p:nvPr/>
        </p:nvSpPr>
        <p:spPr>
          <a:xfrm>
            <a:off x="7313121" y="1161149"/>
            <a:ext cx="48788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Data Processing &amp; Risk Classification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141ECD-54B6-85C8-794B-B5DFF9996A3C}"/>
              </a:ext>
            </a:extLst>
          </p:cNvPr>
          <p:cNvSpPr txBox="1"/>
          <p:nvPr/>
        </p:nvSpPr>
        <p:spPr>
          <a:xfrm>
            <a:off x="9669228" y="3412882"/>
            <a:ext cx="11748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Python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2734D5-9D9F-46AC-7D45-58E6B6E05460}"/>
              </a:ext>
            </a:extLst>
          </p:cNvPr>
          <p:cNvSpPr txBox="1"/>
          <p:nvPr/>
        </p:nvSpPr>
        <p:spPr>
          <a:xfrm>
            <a:off x="8794860" y="5368664"/>
            <a:ext cx="11748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Pandas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9CAA20-5010-EA64-EECE-C1FC17488AA5}"/>
              </a:ext>
            </a:extLst>
          </p:cNvPr>
          <p:cNvSpPr txBox="1"/>
          <p:nvPr/>
        </p:nvSpPr>
        <p:spPr>
          <a:xfrm>
            <a:off x="10528647" y="5425714"/>
            <a:ext cx="11748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NumPy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25D683-9FE7-1BF9-D040-56566EEDFE3A}"/>
              </a:ext>
            </a:extLst>
          </p:cNvPr>
          <p:cNvSpPr txBox="1"/>
          <p:nvPr/>
        </p:nvSpPr>
        <p:spPr>
          <a:xfrm>
            <a:off x="1669481" y="4134167"/>
            <a:ext cx="19503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Visualization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5164732-7CEA-0B21-189A-889997BDD9B4}"/>
              </a:ext>
            </a:extLst>
          </p:cNvPr>
          <p:cNvSpPr txBox="1"/>
          <p:nvPr/>
        </p:nvSpPr>
        <p:spPr>
          <a:xfrm>
            <a:off x="2000286" y="6246557"/>
            <a:ext cx="18454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Power BI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D09D9F27-227F-B8DC-5FDE-E03C8C880CAD}"/>
              </a:ext>
            </a:extLst>
          </p:cNvPr>
          <p:cNvSpPr/>
          <p:nvPr/>
        </p:nvSpPr>
        <p:spPr>
          <a:xfrm>
            <a:off x="2812648" y="2349661"/>
            <a:ext cx="807167" cy="31818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9AF981EF-0FAD-A9D8-3662-64DEF19A9B16}"/>
              </a:ext>
            </a:extLst>
          </p:cNvPr>
          <p:cNvSpPr/>
          <p:nvPr/>
        </p:nvSpPr>
        <p:spPr>
          <a:xfrm>
            <a:off x="7022371" y="2349661"/>
            <a:ext cx="807167" cy="31818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CCDFC738-B9E6-C15E-CE90-127685BD78D6}"/>
              </a:ext>
            </a:extLst>
          </p:cNvPr>
          <p:cNvSpPr/>
          <p:nvPr/>
        </p:nvSpPr>
        <p:spPr>
          <a:xfrm rot="10800000">
            <a:off x="5399979" y="5107531"/>
            <a:ext cx="807167" cy="31818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1012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0CB2BC-C99B-62F2-C86C-0F1D9EA39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297"/>
            <a:ext cx="10515600" cy="907494"/>
          </a:xfrm>
        </p:spPr>
        <p:txBody>
          <a:bodyPr/>
          <a:lstStyle/>
          <a:p>
            <a:pPr algn="ctr"/>
            <a:r>
              <a:rPr lang="en-IN" b="1" u="sng" dirty="0"/>
              <a:t>Budgeting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10CABD-51C2-3502-852D-93FF41B9BA80}"/>
              </a:ext>
            </a:extLst>
          </p:cNvPr>
          <p:cNvSpPr txBox="1"/>
          <p:nvPr/>
        </p:nvSpPr>
        <p:spPr>
          <a:xfrm>
            <a:off x="546755" y="1414021"/>
            <a:ext cx="4053526" cy="480131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Feasibility Analysis: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Technical Feasibility: Uses Python, Power BI, Google Forms 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Operational Feasibility: Easy to use for students and faculty 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Economic Feasibility: Uses mostly free tools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EA4CE4-759C-B4D7-02A0-25560E3C08B2}"/>
              </a:ext>
            </a:extLst>
          </p:cNvPr>
          <p:cNvSpPr txBox="1"/>
          <p:nvPr/>
        </p:nvSpPr>
        <p:spPr>
          <a:xfrm>
            <a:off x="6166700" y="1414021"/>
            <a:ext cx="4297051" cy="15696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Budget Estimation: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Development Cost: Minimal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Operational Cost: Zero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Maintenance Cost: Very Low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A371E8-B114-EA23-01CE-C4C0C73EF952}"/>
              </a:ext>
            </a:extLst>
          </p:cNvPr>
          <p:cNvSpPr txBox="1"/>
          <p:nvPr/>
        </p:nvSpPr>
        <p:spPr>
          <a:xfrm>
            <a:off x="5441624" y="4797648"/>
            <a:ext cx="62853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Conclusion:</a:t>
            </a:r>
            <a:br>
              <a:rPr lang="en-US" sz="2400" dirty="0"/>
            </a:br>
            <a:r>
              <a:rPr lang="en-US" sz="2400" dirty="0"/>
              <a:t>The system is cost-effective and feasible for implementation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093034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39597-AFB7-EB20-E1C1-FFB66E780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185" y="157338"/>
            <a:ext cx="4147009" cy="123119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u="sng" dirty="0"/>
              <a:t>Features of Proposed Solution</a:t>
            </a:r>
            <a:endParaRPr lang="en-IN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D16EF4-1527-181E-FD89-080CF2ABA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F1891C0-FB14-267E-A4E7-21F5A9A18AC5}"/>
              </a:ext>
            </a:extLst>
          </p:cNvPr>
          <p:cNvSpPr txBox="1">
            <a:spLocks/>
          </p:cNvSpPr>
          <p:nvPr/>
        </p:nvSpPr>
        <p:spPr>
          <a:xfrm>
            <a:off x="7269805" y="157339"/>
            <a:ext cx="4922195" cy="123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b="1" u="sng" dirty="0"/>
              <a:t>Identification of Constraints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29DB9F5-179E-6485-ECEE-50821031A76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54247" y="1653126"/>
            <a:ext cx="5525021" cy="483209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Behavioral indices: Learning Fragmentation Index (LFI)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Replay Dependency Phenomenon (RDP)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 Classification Model (Low, Moderate, High)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Power BI Dashboard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Early Warning System for identifying at-risk students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data processing capability 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76DDB8C-E8BC-B697-C31C-585258F7210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888462" y="1543714"/>
            <a:ext cx="3455610" cy="483209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Limited dataset (80 students) </a:t>
            </a:r>
          </a:p>
          <a:p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Self-reported data may introduce bias </a:t>
            </a:r>
          </a:p>
          <a:p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No real-time LMS integration </a:t>
            </a:r>
          </a:p>
          <a:p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Limited project time duration </a:t>
            </a:r>
          </a:p>
          <a:p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Basic statistical analysis (no ML models) </a:t>
            </a:r>
          </a:p>
        </p:txBody>
      </p:sp>
    </p:spTree>
    <p:extLst>
      <p:ext uri="{BB962C8B-B14F-4D97-AF65-F5344CB8AC3E}">
        <p14:creationId xmlns:p14="http://schemas.microsoft.com/office/powerpoint/2010/main" val="3433415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4CC18E1-8AB4-88AE-3BB4-6D6CFDC51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5567"/>
            <a:ext cx="5930245" cy="1030635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u="sng" dirty="0"/>
              <a:t>Feature Analysis and Finalization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226C5B-A795-B9A3-07DB-8D9D86F95FDE}"/>
              </a:ext>
            </a:extLst>
          </p:cNvPr>
          <p:cNvSpPr txBox="1"/>
          <p:nvPr/>
        </p:nvSpPr>
        <p:spPr>
          <a:xfrm>
            <a:off x="633952" y="1295786"/>
            <a:ext cx="3711803" cy="144655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/>
              <a:t>Selected Features:</a:t>
            </a:r>
            <a:endParaRPr lang="en-US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LFI and RDP computation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Risk classification model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Dashboard visualization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84CFA3-6FC6-B57C-3539-D254B27F9190}"/>
              </a:ext>
            </a:extLst>
          </p:cNvPr>
          <p:cNvSpPr txBox="1"/>
          <p:nvPr/>
        </p:nvSpPr>
        <p:spPr>
          <a:xfrm>
            <a:off x="633952" y="2961503"/>
            <a:ext cx="3711803" cy="230832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/>
              <a:t>Excluded Features: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Machine Learning models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Real-time LMS integration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Custom web application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A346CB-54FD-BDF3-AEA6-099FDBABD772}"/>
              </a:ext>
            </a:extLst>
          </p:cNvPr>
          <p:cNvSpPr txBox="1"/>
          <p:nvPr/>
        </p:nvSpPr>
        <p:spPr>
          <a:xfrm>
            <a:off x="633952" y="5488994"/>
            <a:ext cx="49561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Reason:</a:t>
            </a:r>
            <a:br>
              <a:rPr lang="en-US" sz="2400" dirty="0"/>
            </a:br>
            <a:r>
              <a:rPr lang="en-US" sz="2400" dirty="0"/>
              <a:t>Selected features are simple, reliable, and feasible within constraints</a:t>
            </a:r>
            <a:endParaRPr lang="en-IN" sz="2400" dirty="0"/>
          </a:p>
        </p:txBody>
      </p:sp>
      <p:sp>
        <p:nvSpPr>
          <p:cNvPr id="17" name="Title 4">
            <a:extLst>
              <a:ext uri="{FF2B5EF4-FFF2-40B4-BE49-F238E27FC236}">
                <a16:creationId xmlns:a16="http://schemas.microsoft.com/office/drawing/2014/main" id="{3707636E-2F48-5E8D-093A-771F91B6B1FC}"/>
              </a:ext>
            </a:extLst>
          </p:cNvPr>
          <p:cNvSpPr txBox="1">
            <a:spLocks/>
          </p:cNvSpPr>
          <p:nvPr/>
        </p:nvSpPr>
        <p:spPr>
          <a:xfrm>
            <a:off x="6261757" y="41656"/>
            <a:ext cx="5143893" cy="1258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u="sng" dirty="0"/>
              <a:t>Identification of Standards</a:t>
            </a: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BADE32B3-2D79-7AE8-9E73-7C1D0B0F0CA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387448" y="1672565"/>
            <a:ext cx="5489542" cy="3816429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Standards: CSV format, normalization techniques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Analytical Standards: Pearson correlation, threshold model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Software Standards: Python, Power BI best practices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Ethical Standards: Anonymous data, voluntary participation </a:t>
            </a:r>
          </a:p>
        </p:txBody>
      </p:sp>
    </p:spTree>
    <p:extLst>
      <p:ext uri="{BB962C8B-B14F-4D97-AF65-F5344CB8AC3E}">
        <p14:creationId xmlns:p14="http://schemas.microsoft.com/office/powerpoint/2010/main" val="474965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904B-891D-6923-AB86-735DB4D9B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749" y="136525"/>
            <a:ext cx="10515600" cy="681250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900" b="1" u="sng" dirty="0"/>
              <a:t>Preliminary</a:t>
            </a:r>
            <a:r>
              <a:rPr lang="en-IN" b="1" u="sng" dirty="0"/>
              <a:t>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969BD1-2161-8701-A553-CF7F74938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35F9F3B-9135-4805-9746-9F0F0912085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1851" y="1650400"/>
            <a:ext cx="3714159" cy="449353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collected from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80 students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Google Forms.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Behavioral indices successfully computed: 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 Fragmentation Index (LFI) 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Replay Dependency Phenomenon (RDP)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E3B2BE-F33D-D548-4170-C4D0AA937C03}"/>
              </a:ext>
            </a:extLst>
          </p:cNvPr>
          <p:cNvSpPr txBox="1"/>
          <p:nvPr/>
        </p:nvSpPr>
        <p:spPr>
          <a:xfrm>
            <a:off x="3974185" y="1650400"/>
            <a:ext cx="3714161" cy="144655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/>
              <a:t>Average Values:</a:t>
            </a:r>
            <a:endParaRPr lang="en-US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LFI = 0.51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RDP = 0.47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Learning Effectiveness = 6.29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54FEE8-EF1D-9431-B3AD-9D96B7873F39}"/>
              </a:ext>
            </a:extLst>
          </p:cNvPr>
          <p:cNvSpPr txBox="1"/>
          <p:nvPr/>
        </p:nvSpPr>
        <p:spPr>
          <a:xfrm>
            <a:off x="7896520" y="1650400"/>
            <a:ext cx="3019719" cy="144655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/>
              <a:t>Risk Classification:</a:t>
            </a:r>
            <a:endParaRPr lang="en-US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B050"/>
                </a:solidFill>
              </a:rPr>
              <a:t>65% Low Risk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30% Moderate Risk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FF0000"/>
                </a:solidFill>
              </a:rPr>
              <a:t>5% High Risk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6FD99B-CD0A-05D1-0B0B-A67D3CEACC73}"/>
              </a:ext>
            </a:extLst>
          </p:cNvPr>
          <p:cNvSpPr txBox="1"/>
          <p:nvPr/>
        </p:nvSpPr>
        <p:spPr>
          <a:xfrm>
            <a:off x="3974185" y="4315048"/>
            <a:ext cx="6942054" cy="178510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/>
              <a:t>Key Observations:</a:t>
            </a:r>
            <a:endParaRPr lang="en-US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Higher fragmentation leads to lower learning effectiveness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Students with high replay dependency show learning difficulty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LFI and RDP show a positive correlation</a:t>
            </a:r>
          </a:p>
        </p:txBody>
      </p:sp>
    </p:spTree>
    <p:extLst>
      <p:ext uri="{BB962C8B-B14F-4D97-AF65-F5344CB8AC3E}">
        <p14:creationId xmlns:p14="http://schemas.microsoft.com/office/powerpoint/2010/main" val="2701604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040A7-B947-66EC-920B-89AACD3F3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28384"/>
          </a:xfrm>
        </p:spPr>
        <p:txBody>
          <a:bodyPr/>
          <a:lstStyle/>
          <a:p>
            <a:pPr algn="ctr"/>
            <a:r>
              <a:rPr lang="en-IN" b="1" u="sng" dirty="0"/>
              <a:t>Design Selection/ Prototype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A37FB3-627E-07D0-7AC3-53AE6E16D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A58404-3E2C-B09F-15A2-BDFD934F9B18}"/>
              </a:ext>
            </a:extLst>
          </p:cNvPr>
          <p:cNvSpPr txBox="1"/>
          <p:nvPr/>
        </p:nvSpPr>
        <p:spPr>
          <a:xfrm>
            <a:off x="8263380" y="3852229"/>
            <a:ext cx="3784862" cy="144655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/>
              <a:t>Design Justification:</a:t>
            </a:r>
            <a:endParaRPr lang="en-US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Simple and easy to implement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Cost-effective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Scalable for future expansion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5D6CDB-1993-ED04-116A-9E975B583CCA}"/>
              </a:ext>
            </a:extLst>
          </p:cNvPr>
          <p:cNvSpPr txBox="1"/>
          <p:nvPr/>
        </p:nvSpPr>
        <p:spPr>
          <a:xfrm>
            <a:off x="838200" y="5613479"/>
            <a:ext cx="5410986" cy="110799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/>
              <a:t>Alternative Designs Rejected:</a:t>
            </a:r>
            <a:endParaRPr lang="en-US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ML-based systems (require large data)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Web-based systems (complex development) 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7F532279-8114-6783-72D1-9AF7935525F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220173" y="984359"/>
            <a:ext cx="3828068" cy="258532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OUTCOMES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is technically and economically feasible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is scalable and efficient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structured approach for implementation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Ready for deployment in academic environments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9C141D-5199-520D-4EFF-827556F522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984359"/>
            <a:ext cx="7202864" cy="431442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37757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A5ED1-B2D9-6B9C-2EBB-0B3AD21AE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820" y="-252413"/>
            <a:ext cx="10515600" cy="1325563"/>
          </a:xfrm>
        </p:spPr>
        <p:txBody>
          <a:bodyPr/>
          <a:lstStyle/>
          <a:p>
            <a:pPr algn="ctr"/>
            <a:r>
              <a:rPr lang="en-IN" b="1" u="sng" dirty="0"/>
              <a:t>Results &amp; 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6E252-6E8B-6435-DB2F-8CF2928F2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6956EC-E934-6AC6-B2BB-8152CE94A531}"/>
              </a:ext>
            </a:extLst>
          </p:cNvPr>
          <p:cNvSpPr txBox="1"/>
          <p:nvPr/>
        </p:nvSpPr>
        <p:spPr>
          <a:xfrm>
            <a:off x="456235" y="1346172"/>
            <a:ext cx="5412130" cy="397031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Results Achieved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Developed measurable behavioral indices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Implemented dual-threshold classification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Validated correlation with effectiveness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Created fully functional interactive dashboard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AFB581-364E-B31A-3C19-32D986C9EF20}"/>
              </a:ext>
            </a:extLst>
          </p:cNvPr>
          <p:cNvSpPr txBox="1"/>
          <p:nvPr/>
        </p:nvSpPr>
        <p:spPr>
          <a:xfrm>
            <a:off x="6546447" y="1346172"/>
            <a:ext cx="5412130" cy="397031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b="1" dirty="0"/>
              <a:t>Conclusion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Fragmentation negatively impacts learning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Replay dependency reflects cognitive difficulty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Dual-index model improves risk detection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System can serve as institutional early-warning framework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FD7A7E-2B36-6707-9D9C-3B91AA2B8EA6}"/>
              </a:ext>
            </a:extLst>
          </p:cNvPr>
          <p:cNvSpPr txBox="1"/>
          <p:nvPr/>
        </p:nvSpPr>
        <p:spPr>
          <a:xfrm>
            <a:off x="5165204" y="5771575"/>
            <a:ext cx="6094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2065691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6376</TotalTime>
  <Words>556</Words>
  <Application>Microsoft Office PowerPoint</Application>
  <PresentationFormat>Widescreen</PresentationFormat>
  <Paragraphs>142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Calibri</vt:lpstr>
      <vt:lpstr>Calibri Light</vt:lpstr>
      <vt:lpstr>Casper</vt:lpstr>
      <vt:lpstr>Raleway ExtraBold</vt:lpstr>
      <vt:lpstr>Times New Roman</vt:lpstr>
      <vt:lpstr>1_Office Theme</vt:lpstr>
      <vt:lpstr>2_Office Theme</vt:lpstr>
      <vt:lpstr>Contents Slide Master</vt:lpstr>
      <vt:lpstr>PowerPoint Presentation</vt:lpstr>
      <vt:lpstr>Problem Statement &amp; Objectives</vt:lpstr>
      <vt:lpstr>Feasibility &amp; Tools</vt:lpstr>
      <vt:lpstr>Budgeting</vt:lpstr>
      <vt:lpstr>Features of Proposed Solution</vt:lpstr>
      <vt:lpstr>Feature Analysis and Finalization</vt:lpstr>
      <vt:lpstr>Preliminary Results</vt:lpstr>
      <vt:lpstr>Design Selection/ Prototype</vt:lpstr>
      <vt:lpstr>Results &amp;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RAJ SINGH</cp:lastModifiedBy>
  <cp:revision>501</cp:revision>
  <dcterms:created xsi:type="dcterms:W3CDTF">2019-01-09T10:33:58Z</dcterms:created>
  <dcterms:modified xsi:type="dcterms:W3CDTF">2026-03-25T16:46:57Z</dcterms:modified>
</cp:coreProperties>
</file>